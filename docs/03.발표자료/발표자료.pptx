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2" r:id="rId1"/>
    <p:sldMasterId id="2147483683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4" r:id="rId16"/>
    <p:sldId id="269" r:id="rId17"/>
    <p:sldId id="270" r:id="rId18"/>
    <p:sldId id="273" r:id="rId19"/>
    <p:sldId id="274" r:id="rId20"/>
    <p:sldId id="289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AE3191-0FD7-42FB-8B5F-A4663F6CEAD4}">
  <a:tblStyle styleId="{24AE3191-0FD7-42FB-8B5F-A4663F6CEA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F0F0F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0F0F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756E66-2DF1-40D9-9CC0-A4A1FD0B163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0F0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0F0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80DEFA-9D28-4DC0-88E4-CD499039A38E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709"/>
  </p:normalViewPr>
  <p:slideViewPr>
    <p:cSldViewPr snapToGrid="0">
      <p:cViewPr varScale="1">
        <p:scale>
          <a:sx n="140" d="100"/>
          <a:sy n="140" d="100"/>
        </p:scale>
        <p:origin x="8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e3f6fd8d7_4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7e3f6fd8d7_4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7e3f6fd8d7_4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e3f6fd8d7_4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7e3f6fd8d7_4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7e3f6fd8d7_4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e3f6fd8d7_4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7e3f6fd8d7_4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7e3f6fd8d7_4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e3f6fd8d7_4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7e3f6fd8d7_4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e3f6fd8d7_4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7e3f6fd8d7_4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7e3f6fd8d7_4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e3f6fd8d7_4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7e3f6fd8d7_4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7e3f6fd8d7_4_1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e3f6fd8d7_4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7e3f6fd8d7_4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e3f6fd8d7_4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7e3f6fd8d7_4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e3f6fd8d7_4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7e3f6fd8d7_4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e3f6fd8d7_4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g37e3f6fd8d7_4_2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7e3f6fd8d7_4_2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e3f6fd8d7_4_3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7e3f6fd8d7_4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e3f6fd8d7_4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37e3f6fd8d7_4_3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7e3f6fd8d7_4_3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e3f6fd8d7_4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37e3f6fd8d7_4_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7e3f6fd8d7_4_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e3f6fd8d7_4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37e3f6fd8d7_4_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7e3f6fd8d7_4_3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e3f6fd8d7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7e3f6fd8d7_9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7e3f6fd8d7_9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e3f6fd8d7_4_3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37e3f6fd8d7_4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7e3f6fd8d7_4_4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7e3f6fd8d7_4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7e3f6fd8d7_4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g37e3f6fd8d7_4_4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37e3f6fd8d7_4_4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e3f6fd8d7_4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7e3f6fd8d7_4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7e3f6fd8d7_4_4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37e3f6fd8d7_4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7e3f6fd8d7_4_4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g37e3f6fd8d7_4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7e3f6fd8d7_4_5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g37e3f6fd8d7_4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7e3f6fd8d7_4_5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g37e3f6fd8d7_4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7e3f6fd8d7_4_5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g37e3f6fd8d7_4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7e3f6fd8d7_4_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g37e3f6fd8d7_4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7e3f6fd8d7_4_5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g37e3f6fd8d7_4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7e3f6fd8d7_4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g37e3f6fd8d7_4_6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g37e3f6fd8d7_4_6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7e3f6fd8d7_4_6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37e3f6fd8d7_4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7e3f6fd8d7_4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g37e3f6fd8d7_4_6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g37e3f6fd8d7_4_6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빈 화면">
  <p:cSld name="22_빈 화면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4460904"/>
            <a:ext cx="9144000" cy="1369429"/>
          </a:xfrm>
          <a:prstGeom prst="rect">
            <a:avLst/>
          </a:prstGeom>
          <a:solidFill>
            <a:schemeClr val="lt1">
              <a:alpha val="8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4254823"/>
            <a:ext cx="9144000" cy="2603177"/>
          </a:xfrm>
          <a:prstGeom prst="rect">
            <a:avLst/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4126522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6096000" y="4126522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048000" y="4126522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빈 화면">
  <p:cSld name="20_빈 화면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1" y="1961880"/>
            <a:ext cx="9144000" cy="4896120"/>
          </a:xfrm>
          <a:prstGeom prst="roundRect">
            <a:avLst>
              <a:gd name="adj" fmla="val 0"/>
            </a:avLst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0" y="1833579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096000" y="1833579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048000" y="1833579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5" descr="텍스트, 폰트, 로고, 상징이(가) 표시된 사진&#10;&#10;AI 생성 콘텐츠는 정확하지 않을 수 있습니다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187" y="149630"/>
            <a:ext cx="1606609" cy="40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빈 화면">
  <p:cSld name="19_빈 화면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924448"/>
          </a:xfrm>
          <a:prstGeom prst="rect">
            <a:avLst/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1" name="Google Shape;71;p16"/>
          <p:cNvCxnSpPr/>
          <p:nvPr/>
        </p:nvCxnSpPr>
        <p:spPr>
          <a:xfrm>
            <a:off x="234471" y="6471138"/>
            <a:ext cx="867505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0" y="924448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096000" y="924448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048000" y="924448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빈 화면">
  <p:cSld name="21_빈 화면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b="17008"/>
          <a:stretch/>
        </p:blipFill>
        <p:spPr>
          <a:xfrm>
            <a:off x="0" y="1901732"/>
            <a:ext cx="9144000" cy="49562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0" y="0"/>
            <a:ext cx="9144000" cy="3047347"/>
          </a:xfrm>
          <a:prstGeom prst="rect">
            <a:avLst/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0" y="3047347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096000" y="3047347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048000" y="3047347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빈 화면">
  <p:cSld name="26_빈 화면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18"/>
          <p:cNvCxnSpPr/>
          <p:nvPr/>
        </p:nvCxnSpPr>
        <p:spPr>
          <a:xfrm>
            <a:off x="234471" y="6471138"/>
            <a:ext cx="867505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0" y="0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6096000" y="0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048000" y="0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빈 화면">
  <p:cSld name="15_빈 화면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 rotWithShape="1">
          <a:blip r:embed="rId2">
            <a:alphaModFix/>
          </a:blip>
          <a:srcRect b="2904"/>
          <a:stretch/>
        </p:blipFill>
        <p:spPr>
          <a:xfrm>
            <a:off x="0" y="1037784"/>
            <a:ext cx="9144000" cy="582021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/>
          <p:nvPr/>
        </p:nvSpPr>
        <p:spPr>
          <a:xfrm>
            <a:off x="0" y="0"/>
            <a:ext cx="9144000" cy="924448"/>
          </a:xfrm>
          <a:prstGeom prst="rect">
            <a:avLst/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0" y="924448"/>
            <a:ext cx="3048000" cy="128301"/>
          </a:xfrm>
          <a:prstGeom prst="rect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096000" y="924448"/>
            <a:ext cx="3048000" cy="128301"/>
          </a:xfrm>
          <a:prstGeom prst="rect">
            <a:avLst/>
          </a:prstGeom>
          <a:solidFill>
            <a:srgbClr val="0A42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3048000" y="924448"/>
            <a:ext cx="3048000" cy="128301"/>
          </a:xfrm>
          <a:prstGeom prst="rect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0" y="1052749"/>
            <a:ext cx="9144000" cy="5830334"/>
          </a:xfrm>
          <a:prstGeom prst="rect">
            <a:avLst/>
          </a:prstGeom>
          <a:solidFill>
            <a:schemeClr val="lt1">
              <a:alpha val="76862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9"/>
          <p:cNvCxnSpPr/>
          <p:nvPr/>
        </p:nvCxnSpPr>
        <p:spPr>
          <a:xfrm>
            <a:off x="234471" y="6471138"/>
            <a:ext cx="867505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빈 화면">
  <p:cSld name="24_빈 화면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빈 화면">
  <p:cSld name="25_빈 화면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빈 화면">
  <p:cSld name="23_빈 화면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빈 화면">
  <p:cSld name="17_빈 화면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빈 화면">
  <p:cSld name="11_빈 화면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빈 화면">
  <p:cSld name="12_빈 화면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빈 화면">
  <p:cSld name="14_빈 화면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빈 화면">
  <p:cSld name="16_빈 화면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빈 화면">
  <p:cSld name="18_빈 화면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빈 화면">
  <p:cSld name="4_빈 화면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빈 화면">
  <p:cSld name="7_빈 화면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빈 화면">
  <p:cSld name="6_빈 화면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빈 화면">
  <p:cSld name="9_빈 화면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빈 화면">
  <p:cSld name="5_빈 화면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 화면">
  <p:cSld name="2_빈 화면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빈 화면">
  <p:cSld name="3_빈 화면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hyperlink" Target="https://www.flaticon.com/kr/free-icon/number-2_806807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"/>
          <p:cNvSpPr/>
          <p:nvPr/>
        </p:nvSpPr>
        <p:spPr>
          <a:xfrm>
            <a:off x="916416" y="1073132"/>
            <a:ext cx="731116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 b="1" i="0" u="none" strike="noStrike" cap="none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멀티 클라우드 인프라 기반 </a:t>
            </a:r>
            <a:br>
              <a:rPr lang="ko" sz="3600" b="1" i="0" u="none" strike="noStrike" cap="none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3600" b="1" i="0" u="none" strike="noStrike" cap="none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연합학습 환경 구축 플랫폼 개발</a:t>
            </a:r>
            <a:endParaRPr sz="3600" b="1" i="0" u="none" strike="noStrike" cap="none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7"/>
          <p:cNvSpPr/>
          <p:nvPr/>
        </p:nvSpPr>
        <p:spPr>
          <a:xfrm rot="10800000" flipH="1">
            <a:off x="3126223" y="2600615"/>
            <a:ext cx="815009" cy="815009"/>
          </a:xfrm>
          <a:prstGeom prst="ellipse">
            <a:avLst/>
          </a:prstGeom>
          <a:solidFill>
            <a:srgbClr val="0B4D83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7"/>
          <p:cNvSpPr/>
          <p:nvPr/>
        </p:nvSpPr>
        <p:spPr>
          <a:xfrm rot="10800000" flipH="1">
            <a:off x="4164496" y="2600615"/>
            <a:ext cx="815009" cy="815009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/>
          <p:nvPr/>
        </p:nvSpPr>
        <p:spPr>
          <a:xfrm rot="10800000" flipH="1">
            <a:off x="5202769" y="2600615"/>
            <a:ext cx="815009" cy="815009"/>
          </a:xfrm>
          <a:prstGeom prst="ellipse">
            <a:avLst/>
          </a:prstGeom>
          <a:solidFill>
            <a:srgbClr val="0B4D83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245" y="2829745"/>
            <a:ext cx="430056" cy="43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306" y="2779945"/>
            <a:ext cx="469388" cy="46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7" descr="창의성이(가) 표시된 사진&#10;&#10;낮은 신뢰도로 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5587" y="2652025"/>
            <a:ext cx="683033" cy="68303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7"/>
          <p:cNvSpPr txBox="1"/>
          <p:nvPr/>
        </p:nvSpPr>
        <p:spPr>
          <a:xfrm>
            <a:off x="4491457" y="5933139"/>
            <a:ext cx="458049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ko-KR" alt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정보컴퓨터공학부 </a:t>
            </a:r>
            <a:r>
              <a:rPr lang="ko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ko-KR" alt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학번</a:t>
            </a:r>
            <a:r>
              <a:rPr lang="ko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전진혁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7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7" descr="텍스트, 폰트, 로고, 상징이(가) 표시된 사진&#10;&#10;AI 생성 콘텐츠는 정확하지 않을 수 있습니다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8187" y="149630"/>
            <a:ext cx="1606609" cy="40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8688" y="2762638"/>
            <a:ext cx="503175" cy="5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/>
          <p:nvPr/>
        </p:nvSpPr>
        <p:spPr>
          <a:xfrm>
            <a:off x="1111640" y="3357735"/>
            <a:ext cx="69207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139" name="Google Shape;139;p38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 b="0" i="0" u="none" strike="noStrike" cap="none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6000" b="0" i="0" u="none" strike="noStrike" cap="none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8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배경</a:t>
            </a:r>
            <a:endParaRPr/>
          </a:p>
        </p:txBody>
      </p:sp>
      <p:sp>
        <p:nvSpPr>
          <p:cNvPr id="148" name="Google Shape;148;p39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9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9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9"/>
          <p:cNvSpPr/>
          <p:nvPr/>
        </p:nvSpPr>
        <p:spPr>
          <a:xfrm>
            <a:off x="1233419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연합학습(Fedearted Learning)이란?</a:t>
            </a:r>
            <a:endParaRPr sz="24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9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153" name="Google Shape;153;p39"/>
          <p:cNvSpPr txBox="1"/>
          <p:nvPr/>
        </p:nvSpPr>
        <p:spPr>
          <a:xfrm>
            <a:off x="773522" y="1922340"/>
            <a:ext cx="6849952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참여자(Client)와 집계자(Aggregator)로 이루어진 분산학습 기술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ko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집계자: 참여자의 모델 파라미터 수집 및 통계 작업 수행 후 글로벌 모델 갱신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ko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참여자: 학습 데이터를 사용하여 모델 학습 수행 후 모델 파라미터 전송</a:t>
            </a:r>
            <a:endParaRPr dirty="0"/>
          </a:p>
        </p:txBody>
      </p:sp>
      <p:pic>
        <p:nvPicPr>
          <p:cNvPr id="154" name="Google Shape;15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3499" y="3703868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9629" y="5449313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38579" y="5658128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02449" y="5482813"/>
            <a:ext cx="977131" cy="977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39"/>
          <p:cNvCxnSpPr/>
          <p:nvPr/>
        </p:nvCxnSpPr>
        <p:spPr>
          <a:xfrm rot="10800000">
            <a:off x="5005718" y="4575857"/>
            <a:ext cx="790068" cy="873456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159" name="Google Shape;159;p39"/>
          <p:cNvCxnSpPr>
            <a:stCxn id="156" idx="0"/>
            <a:endCxn id="154" idx="2"/>
          </p:cNvCxnSpPr>
          <p:nvPr/>
        </p:nvCxnSpPr>
        <p:spPr>
          <a:xfrm rot="10800000" flipH="1">
            <a:off x="4427144" y="4681028"/>
            <a:ext cx="34800" cy="977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160" name="Google Shape;160;p39"/>
          <p:cNvCxnSpPr/>
          <p:nvPr/>
        </p:nvCxnSpPr>
        <p:spPr>
          <a:xfrm rot="10800000" flipH="1">
            <a:off x="3006238" y="4575857"/>
            <a:ext cx="847035" cy="80920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pic>
        <p:nvPicPr>
          <p:cNvPr id="161" name="Google Shape;161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27652" y="4561041"/>
            <a:ext cx="419418" cy="41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1723" y="5027752"/>
            <a:ext cx="432052" cy="43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8048" y="4673590"/>
            <a:ext cx="432827" cy="43282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9"/>
          <p:cNvSpPr txBox="1"/>
          <p:nvPr/>
        </p:nvSpPr>
        <p:spPr>
          <a:xfrm>
            <a:off x="2483224" y="6006073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9"/>
          <p:cNvSpPr txBox="1"/>
          <p:nvPr/>
        </p:nvSpPr>
        <p:spPr>
          <a:xfrm>
            <a:off x="3974687" y="4414305"/>
            <a:ext cx="9759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9"/>
          <p:cNvSpPr txBox="1"/>
          <p:nvPr/>
        </p:nvSpPr>
        <p:spPr>
          <a:xfrm>
            <a:off x="4112174" y="6191513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9"/>
          <p:cNvSpPr txBox="1"/>
          <p:nvPr/>
        </p:nvSpPr>
        <p:spPr>
          <a:xfrm>
            <a:off x="5776044" y="6029603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34895" y="3475529"/>
            <a:ext cx="419418" cy="41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 txBox="1"/>
          <p:nvPr/>
        </p:nvSpPr>
        <p:spPr>
          <a:xfrm>
            <a:off x="4624897" y="3546738"/>
            <a:ext cx="11637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9"/>
          <p:cNvSpPr txBox="1"/>
          <p:nvPr/>
        </p:nvSpPr>
        <p:spPr>
          <a:xfrm>
            <a:off x="2897497" y="4370640"/>
            <a:ext cx="80013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9"/>
          <p:cNvSpPr txBox="1"/>
          <p:nvPr/>
        </p:nvSpPr>
        <p:spPr>
          <a:xfrm>
            <a:off x="5239426" y="4491903"/>
            <a:ext cx="79006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9"/>
          <p:cNvSpPr txBox="1"/>
          <p:nvPr/>
        </p:nvSpPr>
        <p:spPr>
          <a:xfrm>
            <a:off x="3745495" y="4863133"/>
            <a:ext cx="78942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1139944" y="2854766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1425740" y="2810660"/>
            <a:ext cx="70603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중앙으로 학습 데이터의 전송 없이 파라미터만 전송 </a:t>
            </a:r>
            <a:r>
              <a:rPr kumimoji="1" lang="en-US" altLang="ko-KR" sz="1600" b="1" dirty="0">
                <a:sym typeface="Wingdings" pitchFamily="2" charset="2"/>
              </a:rPr>
              <a:t>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유출 위험 감소</a:t>
            </a:r>
            <a:endParaRPr dirty="0"/>
          </a:p>
        </p:txBody>
      </p:sp>
      <p:sp>
        <p:nvSpPr>
          <p:cNvPr id="175" name="Google Shape;175;p39"/>
          <p:cNvSpPr/>
          <p:nvPr/>
        </p:nvSpPr>
        <p:spPr>
          <a:xfrm>
            <a:off x="1139944" y="3180414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9"/>
          <p:cNvSpPr txBox="1"/>
          <p:nvPr/>
        </p:nvSpPr>
        <p:spPr>
          <a:xfrm>
            <a:off x="1425740" y="3115025"/>
            <a:ext cx="56158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의료, 금융 및 스마트시티 분야에서 활용</a:t>
            </a:r>
            <a:endParaRPr/>
          </a:p>
        </p:txBody>
      </p:sp>
      <p:pic>
        <p:nvPicPr>
          <p:cNvPr id="177" name="Google Shape;177;p3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57992" y="5613936"/>
            <a:ext cx="394401" cy="3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98498" y="5808872"/>
            <a:ext cx="394401" cy="3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42927" y="5635201"/>
            <a:ext cx="394401" cy="39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배경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4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0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0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0"/>
          <p:cNvSpPr txBox="1"/>
          <p:nvPr/>
        </p:nvSpPr>
        <p:spPr>
          <a:xfrm>
            <a:off x="773522" y="1922340"/>
            <a:ext cx="62490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이형의 클라우드 플랫폼(퍼블릭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클라우드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프라이빗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클라우드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)을 </a:t>
            </a:r>
            <a:b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통합하여 단일 클라우드 플랫폼처럼 활용할 수 있는 기술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0"/>
          <p:cNvSpPr/>
          <p:nvPr/>
        </p:nvSpPr>
        <p:spPr>
          <a:xfrm>
            <a:off x="1113788" y="2657564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0"/>
          <p:cNvSpPr txBox="1"/>
          <p:nvPr/>
        </p:nvSpPr>
        <p:spPr>
          <a:xfrm>
            <a:off x="1399584" y="2620044"/>
            <a:ext cx="748983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벤더 종속성을 탈피하고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각 클라우드 플랫폼의 장점 확보 가능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40"/>
          <p:cNvGrpSpPr/>
          <p:nvPr/>
        </p:nvGrpSpPr>
        <p:grpSpPr>
          <a:xfrm>
            <a:off x="3293918" y="3883057"/>
            <a:ext cx="2792086" cy="2682833"/>
            <a:chOff x="3293918" y="3883057"/>
            <a:chExt cx="2792086" cy="2682833"/>
          </a:xfrm>
        </p:grpSpPr>
        <p:pic>
          <p:nvPicPr>
            <p:cNvPr id="194" name="Google Shape;194;p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93918" y="3883057"/>
              <a:ext cx="977130" cy="977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5146" y="5588760"/>
              <a:ext cx="977130" cy="977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37268" y="4611629"/>
              <a:ext cx="977131" cy="977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09092" y="4873835"/>
              <a:ext cx="480016" cy="480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40"/>
            <p:cNvSpPr txBox="1"/>
            <p:nvPr/>
          </p:nvSpPr>
          <p:spPr>
            <a:xfrm>
              <a:off x="3365524" y="4311235"/>
              <a:ext cx="8339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40"/>
            <p:cNvSpPr txBox="1"/>
            <p:nvPr/>
          </p:nvSpPr>
          <p:spPr>
            <a:xfrm>
              <a:off x="5108873" y="4860187"/>
              <a:ext cx="9771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40"/>
            <p:cNvSpPr txBox="1"/>
            <p:nvPr/>
          </p:nvSpPr>
          <p:spPr>
            <a:xfrm>
              <a:off x="3532450" y="5837317"/>
              <a:ext cx="8667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1" name="Google Shape;201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/>
          <p:nvPr/>
        </p:nvSpPr>
        <p:spPr>
          <a:xfrm>
            <a:off x="1240949" y="1300575"/>
            <a:ext cx="458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멀티 클라우드(Multi-Cloud)</a:t>
            </a:r>
            <a:r>
              <a:rPr lang="ko" sz="2400" b="1">
                <a:solidFill>
                  <a:srgbClr val="3F3F3F"/>
                </a:solidFill>
              </a:rPr>
              <a:t>란?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0"/>
          <p:cNvSpPr/>
          <p:nvPr/>
        </p:nvSpPr>
        <p:spPr>
          <a:xfrm>
            <a:off x="1111695" y="2958598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0"/>
          <p:cNvSpPr txBox="1"/>
          <p:nvPr/>
        </p:nvSpPr>
        <p:spPr>
          <a:xfrm>
            <a:off x="1397491" y="2935883"/>
            <a:ext cx="70287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퍼블릭 클라우드를 통한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확장성 및 접근성 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프라이빗 클라우드를 통한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보안성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0040" y="4603756"/>
            <a:ext cx="338555" cy="338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73039" y="4102950"/>
            <a:ext cx="262206" cy="262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60693" y="5616584"/>
            <a:ext cx="338555" cy="338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/>
          <p:nvPr/>
        </p:nvSpPr>
        <p:spPr>
          <a:xfrm>
            <a:off x="1111640" y="3357735"/>
            <a:ext cx="69207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문제점</a:t>
            </a:r>
            <a:endParaRPr/>
          </a:p>
        </p:txBody>
      </p:sp>
      <p:sp>
        <p:nvSpPr>
          <p:cNvPr id="214" name="Google Shape;214;p41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6000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1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기존 시스템의 문제점</a:t>
            </a:r>
            <a:endParaRPr/>
          </a:p>
        </p:txBody>
      </p:sp>
      <p:sp>
        <p:nvSpPr>
          <p:cNvPr id="223" name="Google Shape;223;p42"/>
          <p:cNvSpPr/>
          <p:nvPr/>
        </p:nvSpPr>
        <p:spPr>
          <a:xfrm>
            <a:off x="6178833" y="2469643"/>
            <a:ext cx="2552996" cy="2880320"/>
          </a:xfrm>
          <a:prstGeom prst="homePlate">
            <a:avLst>
              <a:gd name="adj" fmla="val 36924"/>
            </a:avLst>
          </a:prstGeom>
          <a:noFill/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5908803" y="2469643"/>
            <a:ext cx="540060" cy="30963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6408551" y="3347433"/>
            <a:ext cx="940412" cy="221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6063225" y="2037595"/>
            <a:ext cx="1080120" cy="1080120"/>
          </a:xfrm>
          <a:prstGeom prst="ellipse">
            <a:avLst/>
          </a:prstGeom>
          <a:solidFill>
            <a:srgbClr val="0B4D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3413962" y="2469643"/>
            <a:ext cx="2552996" cy="2880320"/>
          </a:xfrm>
          <a:prstGeom prst="homePlate">
            <a:avLst>
              <a:gd name="adj" fmla="val 36924"/>
            </a:avLst>
          </a:prstGeom>
          <a:noFill/>
          <a:ln w="63500" cap="flat" cmpd="sng">
            <a:solidFill>
              <a:srgbClr val="1170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3143932" y="2469643"/>
            <a:ext cx="540060" cy="30963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2"/>
          <p:cNvSpPr/>
          <p:nvPr/>
        </p:nvSpPr>
        <p:spPr>
          <a:xfrm>
            <a:off x="3643680" y="3347433"/>
            <a:ext cx="940412" cy="221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2"/>
          <p:cNvSpPr/>
          <p:nvPr/>
        </p:nvSpPr>
        <p:spPr>
          <a:xfrm>
            <a:off x="3298354" y="2037595"/>
            <a:ext cx="1080120" cy="1080120"/>
          </a:xfrm>
          <a:prstGeom prst="ellipse">
            <a:avLst/>
          </a:prstGeom>
          <a:solidFill>
            <a:srgbClr val="1170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649091" y="2469643"/>
            <a:ext cx="2552996" cy="2880320"/>
          </a:xfrm>
          <a:prstGeom prst="homePlate">
            <a:avLst>
              <a:gd name="adj" fmla="val 36924"/>
            </a:avLst>
          </a:prstGeom>
          <a:noFill/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2"/>
          <p:cNvSpPr/>
          <p:nvPr/>
        </p:nvSpPr>
        <p:spPr>
          <a:xfrm>
            <a:off x="379061" y="2469643"/>
            <a:ext cx="540060" cy="30963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2"/>
          <p:cNvSpPr/>
          <p:nvPr/>
        </p:nvSpPr>
        <p:spPr>
          <a:xfrm>
            <a:off x="890939" y="3427236"/>
            <a:ext cx="940412" cy="221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533483" y="2037595"/>
            <a:ext cx="1080120" cy="1080120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437216" y="3555860"/>
            <a:ext cx="212109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 지연 시간 및 </a:t>
            </a:r>
            <a:b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비용 최적화 부재</a:t>
            </a:r>
            <a:endParaRPr/>
          </a:p>
        </p:txBody>
      </p:sp>
      <p:sp>
        <p:nvSpPr>
          <p:cNvPr id="236" name="Google Shape;236;p42"/>
          <p:cNvSpPr/>
          <p:nvPr/>
        </p:nvSpPr>
        <p:spPr>
          <a:xfrm>
            <a:off x="3273404" y="3452665"/>
            <a:ext cx="223336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2. 보안 취약성 및</a:t>
            </a:r>
            <a:b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데이터 </a:t>
            </a:r>
            <a:b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프라이버시 문제</a:t>
            </a:r>
            <a:endParaRPr/>
          </a:p>
        </p:txBody>
      </p:sp>
      <p:sp>
        <p:nvSpPr>
          <p:cNvPr id="237" name="Google Shape;237;p42"/>
          <p:cNvSpPr/>
          <p:nvPr/>
        </p:nvSpPr>
        <p:spPr>
          <a:xfrm>
            <a:off x="6009907" y="3452665"/>
            <a:ext cx="256352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3.동적 </a:t>
            </a:r>
            <a:r>
              <a:rPr lang="ko" sz="2000" b="1" i="1">
                <a:solidFill>
                  <a:srgbClr val="3F3F3F"/>
                </a:solidFill>
              </a:rPr>
              <a:t>태</a:t>
            </a: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스크</a:t>
            </a:r>
            <a:b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2000" b="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오케스트레이션 부재</a:t>
            </a:r>
            <a:endParaRPr/>
          </a:p>
        </p:txBody>
      </p:sp>
      <p:sp>
        <p:nvSpPr>
          <p:cNvPr id="238" name="Google Shape;238;p42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pic>
        <p:nvPicPr>
          <p:cNvPr id="239" name="Google Shape;23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4893" y="2315738"/>
            <a:ext cx="530668" cy="530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568" y="2308546"/>
            <a:ext cx="530668" cy="530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7711" y="2373218"/>
            <a:ext cx="473188" cy="473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기존 시스템 문제점</a:t>
            </a:r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7</a:t>
            </a:fld>
            <a:endParaRPr/>
          </a:p>
        </p:txBody>
      </p:sp>
      <p:sp>
        <p:nvSpPr>
          <p:cNvPr id="248" name="Google Shape;248;p43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3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3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3"/>
          <p:cNvSpPr/>
          <p:nvPr/>
        </p:nvSpPr>
        <p:spPr>
          <a:xfrm>
            <a:off x="1077783" y="1297440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 운영 비용 및 지연시간 최적화 부재</a:t>
            </a:r>
            <a:endParaRPr/>
          </a:p>
        </p:txBody>
      </p:sp>
      <p:pic>
        <p:nvPicPr>
          <p:cNvPr id="252" name="Google Shape;25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3"/>
          <p:cNvSpPr txBox="1"/>
          <p:nvPr/>
        </p:nvSpPr>
        <p:spPr>
          <a:xfrm>
            <a:off x="773522" y="1922340"/>
            <a:ext cx="675005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클라우드 기반 연합학습(e.g. AWS SageMaker, GCP VetexAI)의 경우</a:t>
            </a:r>
            <a:b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단일 클라우드 플랫폼에 한정되어 연합학습을 수행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3"/>
          <p:cNvSpPr/>
          <p:nvPr/>
        </p:nvSpPr>
        <p:spPr>
          <a:xfrm>
            <a:off x="1139944" y="2521132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3"/>
          <p:cNvSpPr/>
          <p:nvPr/>
        </p:nvSpPr>
        <p:spPr>
          <a:xfrm>
            <a:off x="1139944" y="2846780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3"/>
          <p:cNvSpPr txBox="1"/>
          <p:nvPr/>
        </p:nvSpPr>
        <p:spPr>
          <a:xfrm>
            <a:off x="1425740" y="2470573"/>
            <a:ext cx="56158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다양한 클라우드 플랫폼의 다양한 리전을 사용하지 못함.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3"/>
          <p:cNvSpPr txBox="1"/>
          <p:nvPr/>
        </p:nvSpPr>
        <p:spPr>
          <a:xfrm>
            <a:off x="1425740" y="2796734"/>
            <a:ext cx="61765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가상머신 운영 비용 증가 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및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 위치에 따른 학습시간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증가 가능</a:t>
            </a:r>
            <a:endParaRPr/>
          </a:p>
        </p:txBody>
      </p:sp>
      <p:pic>
        <p:nvPicPr>
          <p:cNvPr id="258" name="Google Shape;25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479" y="3738598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479" y="4499329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478" y="5301143"/>
            <a:ext cx="977131" cy="97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00515" y="4227163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1585" y="3744952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1585" y="4505683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1584" y="5307497"/>
            <a:ext cx="977131" cy="97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76111" y="4233517"/>
            <a:ext cx="977130" cy="977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43"/>
          <p:cNvCxnSpPr>
            <a:endCxn id="260" idx="3"/>
          </p:cNvCxnSpPr>
          <p:nvPr/>
        </p:nvCxnSpPr>
        <p:spPr>
          <a:xfrm flipH="1">
            <a:off x="1315609" y="4952109"/>
            <a:ext cx="1185000" cy="83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267" name="Google Shape;267;p43"/>
          <p:cNvCxnSpPr>
            <a:stCxn id="259" idx="3"/>
          </p:cNvCxnSpPr>
          <p:nvPr/>
        </p:nvCxnSpPr>
        <p:spPr>
          <a:xfrm rot="10800000" flipH="1">
            <a:off x="1315609" y="4829194"/>
            <a:ext cx="1087200" cy="15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268" name="Google Shape;268;p43"/>
          <p:cNvCxnSpPr>
            <a:stCxn id="258" idx="3"/>
            <a:endCxn id="261" idx="1"/>
          </p:cNvCxnSpPr>
          <p:nvPr/>
        </p:nvCxnSpPr>
        <p:spPr>
          <a:xfrm>
            <a:off x="1315609" y="4227163"/>
            <a:ext cx="1185000" cy="48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sp>
        <p:nvSpPr>
          <p:cNvPr id="269" name="Google Shape;269;p43"/>
          <p:cNvSpPr txBox="1"/>
          <p:nvPr/>
        </p:nvSpPr>
        <p:spPr>
          <a:xfrm>
            <a:off x="1649652" y="4113774"/>
            <a:ext cx="534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1509575" y="4627119"/>
            <a:ext cx="534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3"/>
          <p:cNvSpPr txBox="1"/>
          <p:nvPr/>
        </p:nvSpPr>
        <p:spPr>
          <a:xfrm>
            <a:off x="1470353" y="5140464"/>
            <a:ext cx="534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43"/>
          <p:cNvCxnSpPr/>
          <p:nvPr/>
        </p:nvCxnSpPr>
        <p:spPr>
          <a:xfrm flipH="1">
            <a:off x="6338669" y="4910472"/>
            <a:ext cx="1184906" cy="83763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273" name="Google Shape;273;p43"/>
          <p:cNvCxnSpPr/>
          <p:nvPr/>
        </p:nvCxnSpPr>
        <p:spPr>
          <a:xfrm rot="10800000" flipH="1">
            <a:off x="6338669" y="4787515"/>
            <a:ext cx="1087255" cy="15877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274" name="Google Shape;274;p43"/>
          <p:cNvCxnSpPr/>
          <p:nvPr/>
        </p:nvCxnSpPr>
        <p:spPr>
          <a:xfrm>
            <a:off x="6338669" y="4185561"/>
            <a:ext cx="1184906" cy="48856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sp>
        <p:nvSpPr>
          <p:cNvPr id="275" name="Google Shape;275;p43"/>
          <p:cNvSpPr txBox="1"/>
          <p:nvPr/>
        </p:nvSpPr>
        <p:spPr>
          <a:xfrm>
            <a:off x="6672711" y="4072172"/>
            <a:ext cx="619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3"/>
          <p:cNvSpPr txBox="1"/>
          <p:nvPr/>
        </p:nvSpPr>
        <p:spPr>
          <a:xfrm>
            <a:off x="6532634" y="4585517"/>
            <a:ext cx="619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3"/>
          <p:cNvSpPr txBox="1"/>
          <p:nvPr/>
        </p:nvSpPr>
        <p:spPr>
          <a:xfrm>
            <a:off x="6493413" y="5098862"/>
            <a:ext cx="534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3"/>
          <p:cNvSpPr txBox="1"/>
          <p:nvPr/>
        </p:nvSpPr>
        <p:spPr>
          <a:xfrm>
            <a:off x="2421314" y="3908859"/>
            <a:ext cx="145928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cost : 30$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latency: 100ms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3"/>
          <p:cNvSpPr txBox="1"/>
          <p:nvPr/>
        </p:nvSpPr>
        <p:spPr>
          <a:xfrm>
            <a:off x="7456746" y="3872559"/>
            <a:ext cx="156843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cost : 40$</a:t>
            </a:r>
            <a:endParaRPr lang="en-US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latency: 320ms</a:t>
            </a:r>
            <a:endParaRPr lang="en-US"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3"/>
          <p:cNvSpPr/>
          <p:nvPr/>
        </p:nvSpPr>
        <p:spPr>
          <a:xfrm rot="10800000">
            <a:off x="7291952" y="5582760"/>
            <a:ext cx="1511085" cy="730398"/>
          </a:xfrm>
          <a:prstGeom prst="wedgeRoundRectCallout">
            <a:avLst>
              <a:gd name="adj1" fmla="val 7845"/>
              <a:gd name="adj2" fmla="val 100158"/>
              <a:gd name="adj3" fmla="val 16667"/>
            </a:avLst>
          </a:prstGeom>
          <a:solidFill>
            <a:srgbClr val="FEE599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7252963" y="5632567"/>
            <a:ext cx="16234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클라우드 비용 증가,</a:t>
            </a:r>
            <a:br>
              <a:rPr lang="k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k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학습 시간 증가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3"/>
          <p:cNvSpPr/>
          <p:nvPr/>
        </p:nvSpPr>
        <p:spPr>
          <a:xfrm>
            <a:off x="4448936" y="3443426"/>
            <a:ext cx="82194" cy="285562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4D445E-1DE6-2497-93DA-B60D7C8F2579}"/>
              </a:ext>
            </a:extLst>
          </p:cNvPr>
          <p:cNvSpPr txBox="1"/>
          <p:nvPr/>
        </p:nvSpPr>
        <p:spPr>
          <a:xfrm>
            <a:off x="2477550" y="5001964"/>
            <a:ext cx="1719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b="1" dirty="0"/>
              <a:t>region: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us-central1</a:t>
            </a:r>
            <a:endParaRPr kumimoji="1"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72AA1-9E1F-ABF4-B17B-4A34AE00244C}"/>
              </a:ext>
            </a:extLst>
          </p:cNvPr>
          <p:cNvSpPr txBox="1"/>
          <p:nvPr/>
        </p:nvSpPr>
        <p:spPr>
          <a:xfrm>
            <a:off x="7456746" y="4960550"/>
            <a:ext cx="1719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b="1" dirty="0"/>
              <a:t>region:</a:t>
            </a:r>
            <a:r>
              <a:rPr kumimoji="1" lang="ko-KR" altLang="en-US" sz="1200" b="1" dirty="0"/>
              <a:t> </a:t>
            </a:r>
            <a:r>
              <a:rPr kumimoji="1" lang="en-US" altLang="ko-KR" sz="1200" b="1" dirty="0"/>
              <a:t>eu-west12</a:t>
            </a:r>
            <a:endParaRPr kumimoji="1" lang="ko-KR" altLang="en-US" sz="1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기존 시스템 문제점</a:t>
            </a:r>
            <a:endParaRPr/>
          </a:p>
        </p:txBody>
      </p:sp>
      <p:sp>
        <p:nvSpPr>
          <p:cNvPr id="288" name="Google Shape;288;p44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8</a:t>
            </a:fld>
            <a:endParaRPr/>
          </a:p>
        </p:txBody>
      </p:sp>
      <p:sp>
        <p:nvSpPr>
          <p:cNvPr id="289" name="Google Shape;289;p44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4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4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4"/>
          <p:cNvSpPr/>
          <p:nvPr/>
        </p:nvSpPr>
        <p:spPr>
          <a:xfrm>
            <a:off x="1077783" y="1297440"/>
            <a:ext cx="58790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2. 보안 취약성 및 데이터 프라이버시 문제</a:t>
            </a:r>
            <a:endParaRPr/>
          </a:p>
        </p:txBody>
      </p:sp>
      <p:pic>
        <p:nvPicPr>
          <p:cNvPr id="293" name="Google Shape;29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 txBox="1"/>
          <p:nvPr/>
        </p:nvSpPr>
        <p:spPr>
          <a:xfrm>
            <a:off x="773522" y="1922340"/>
            <a:ext cx="76161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클라우드 기반 연합학습(e.g. AWS SageMaker, GCP VetexAI)의 경우</a:t>
            </a:r>
            <a:b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단일 클라우드만 사용하여 클라우드 플랫폼에 학습 데이터 업로드 요구됨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4"/>
          <p:cNvSpPr/>
          <p:nvPr/>
        </p:nvSpPr>
        <p:spPr>
          <a:xfrm>
            <a:off x="1139944" y="2521132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4"/>
          <p:cNvSpPr/>
          <p:nvPr/>
        </p:nvSpPr>
        <p:spPr>
          <a:xfrm>
            <a:off x="1139944" y="2846780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1425740" y="2470573"/>
            <a:ext cx="56158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 데이터 저장위치: 퍼블릭 클라우드</a:t>
            </a:r>
            <a:endParaRPr/>
          </a:p>
        </p:txBody>
      </p:sp>
      <p:sp>
        <p:nvSpPr>
          <p:cNvPr id="298" name="Google Shape;298;p44"/>
          <p:cNvSpPr txBox="1"/>
          <p:nvPr/>
        </p:nvSpPr>
        <p:spPr>
          <a:xfrm>
            <a:off x="1425740" y="2823144"/>
            <a:ext cx="76161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 데이터가 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네트워크 환경 및 제3의 인프라에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노출될 수 있는 보안적 취약점 존재</a:t>
            </a:r>
            <a:endParaRPr/>
          </a:p>
        </p:txBody>
      </p:sp>
      <p:pic>
        <p:nvPicPr>
          <p:cNvPr id="299" name="Google Shape;29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6378" y="4073125"/>
            <a:ext cx="507243" cy="50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1814" y="3745030"/>
            <a:ext cx="1209084" cy="120908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 txBox="1"/>
          <p:nvPr/>
        </p:nvSpPr>
        <p:spPr>
          <a:xfrm>
            <a:off x="4062095" y="4311147"/>
            <a:ext cx="7685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0934" y="4224810"/>
            <a:ext cx="1222253" cy="122225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4"/>
          <p:cNvSpPr txBox="1"/>
          <p:nvPr/>
        </p:nvSpPr>
        <p:spPr>
          <a:xfrm>
            <a:off x="6030934" y="4787194"/>
            <a:ext cx="12652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3305" y="4915689"/>
            <a:ext cx="1209084" cy="120908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4083586" y="5481806"/>
            <a:ext cx="7685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1733" y="3809145"/>
            <a:ext cx="444946" cy="444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6378" y="5297757"/>
            <a:ext cx="553375" cy="553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44"/>
          <p:cNvCxnSpPr/>
          <p:nvPr/>
        </p:nvCxnSpPr>
        <p:spPr>
          <a:xfrm>
            <a:off x="2662583" y="5666472"/>
            <a:ext cx="103994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309" name="Google Shape;309;p44"/>
          <p:cNvCxnSpPr/>
          <p:nvPr/>
        </p:nvCxnSpPr>
        <p:spPr>
          <a:xfrm>
            <a:off x="2662583" y="4357896"/>
            <a:ext cx="103994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pic>
        <p:nvPicPr>
          <p:cNvPr id="310" name="Google Shape;310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60081" y="5132612"/>
            <a:ext cx="444946" cy="4449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44"/>
          <p:cNvCxnSpPr/>
          <p:nvPr/>
        </p:nvCxnSpPr>
        <p:spPr>
          <a:xfrm rot="10800000" flipH="1">
            <a:off x="5125496" y="5164341"/>
            <a:ext cx="905438" cy="502131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312" name="Google Shape;312;p44"/>
          <p:cNvCxnSpPr/>
          <p:nvPr/>
        </p:nvCxnSpPr>
        <p:spPr>
          <a:xfrm>
            <a:off x="5130792" y="4422435"/>
            <a:ext cx="900142" cy="33339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pic>
        <p:nvPicPr>
          <p:cNvPr id="313" name="Google Shape;313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62685" y="4130096"/>
            <a:ext cx="419418" cy="41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47838" y="5415406"/>
            <a:ext cx="419418" cy="41941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4"/>
          <p:cNvSpPr/>
          <p:nvPr/>
        </p:nvSpPr>
        <p:spPr>
          <a:xfrm>
            <a:off x="3755037" y="3696302"/>
            <a:ext cx="3605133" cy="248714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C0C0C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4497510" y="3436499"/>
            <a:ext cx="23262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클라우드 기반 연합학습 시스템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기존 시스템 문제점</a:t>
            </a:r>
            <a:endParaRPr/>
          </a:p>
        </p:txBody>
      </p:sp>
      <p:sp>
        <p:nvSpPr>
          <p:cNvPr id="322" name="Google Shape;322;p45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9</a:t>
            </a:fld>
            <a:endParaRPr/>
          </a:p>
        </p:txBody>
      </p:sp>
      <p:sp>
        <p:nvSpPr>
          <p:cNvPr id="323" name="Google Shape;323;p45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5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5"/>
          <p:cNvSpPr/>
          <p:nvPr/>
        </p:nvSpPr>
        <p:spPr>
          <a:xfrm>
            <a:off x="1077783" y="1297440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3. 동적 태스크 오케스트레이션 부재</a:t>
            </a:r>
            <a:endParaRPr/>
          </a:p>
        </p:txBody>
      </p:sp>
      <p:pic>
        <p:nvPicPr>
          <p:cNvPr id="327" name="Google Shape;32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197" y="4215856"/>
            <a:ext cx="1850233" cy="185023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5"/>
          <p:cNvSpPr txBox="1"/>
          <p:nvPr/>
        </p:nvSpPr>
        <p:spPr>
          <a:xfrm>
            <a:off x="773522" y="1922340"/>
            <a:ext cx="822569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연합학습 플랫폼(FedML, IBM Federated Learning 등)의 경우 연합학습 태스크를</a:t>
            </a:r>
            <a:b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참여자의 적절한 가상머신(VM)에 할당하는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동적 태스크 오케스트레이션 부재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5"/>
          <p:cNvSpPr/>
          <p:nvPr/>
        </p:nvSpPr>
        <p:spPr>
          <a:xfrm>
            <a:off x="5594536" y="4986470"/>
            <a:ext cx="521753" cy="369333"/>
          </a:xfrm>
          <a:prstGeom prst="roundRect">
            <a:avLst>
              <a:gd name="adj" fmla="val 16667"/>
            </a:avLst>
          </a:prstGeom>
          <a:solidFill>
            <a:srgbClr val="005DB5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VM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5"/>
          <p:cNvSpPr/>
          <p:nvPr/>
        </p:nvSpPr>
        <p:spPr>
          <a:xfrm>
            <a:off x="5594535" y="5399389"/>
            <a:ext cx="521753" cy="369333"/>
          </a:xfrm>
          <a:prstGeom prst="roundRect">
            <a:avLst>
              <a:gd name="adj" fmla="val 16667"/>
            </a:avLst>
          </a:prstGeom>
          <a:solidFill>
            <a:srgbClr val="005DB5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VM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/>
          <p:nvPr/>
        </p:nvSpPr>
        <p:spPr>
          <a:xfrm>
            <a:off x="5594536" y="4564124"/>
            <a:ext cx="521753" cy="369333"/>
          </a:xfrm>
          <a:prstGeom prst="roundRect">
            <a:avLst>
              <a:gd name="adj" fmla="val 16667"/>
            </a:avLst>
          </a:prstGeom>
          <a:solidFill>
            <a:srgbClr val="005DB5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VM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5"/>
          <p:cNvSpPr txBox="1"/>
          <p:nvPr/>
        </p:nvSpPr>
        <p:spPr>
          <a:xfrm>
            <a:off x="5499344" y="5779331"/>
            <a:ext cx="7121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5"/>
          <p:cNvSpPr/>
          <p:nvPr/>
        </p:nvSpPr>
        <p:spPr>
          <a:xfrm>
            <a:off x="1139944" y="2521132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5"/>
          <p:cNvSpPr/>
          <p:nvPr/>
        </p:nvSpPr>
        <p:spPr>
          <a:xfrm>
            <a:off x="1139944" y="2846780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2266" y="4525004"/>
            <a:ext cx="1331418" cy="133141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5"/>
          <p:cNvSpPr txBox="1"/>
          <p:nvPr/>
        </p:nvSpPr>
        <p:spPr>
          <a:xfrm>
            <a:off x="1716057" y="5779331"/>
            <a:ext cx="15038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플랫폼</a:t>
            </a:r>
            <a:endParaRPr/>
          </a:p>
        </p:txBody>
      </p:sp>
      <p:cxnSp>
        <p:nvCxnSpPr>
          <p:cNvPr id="338" name="Google Shape;338;p45"/>
          <p:cNvCxnSpPr/>
          <p:nvPr/>
        </p:nvCxnSpPr>
        <p:spPr>
          <a:xfrm>
            <a:off x="3219892" y="5150211"/>
            <a:ext cx="861537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9" name="Google Shape;339;p45"/>
          <p:cNvCxnSpPr>
            <a:endCxn id="332" idx="1"/>
          </p:cNvCxnSpPr>
          <p:nvPr/>
        </p:nvCxnSpPr>
        <p:spPr>
          <a:xfrm rot="10800000" flipH="1">
            <a:off x="4699636" y="4748791"/>
            <a:ext cx="894900" cy="24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340" name="Google Shape;340;p45"/>
          <p:cNvCxnSpPr>
            <a:stCxn id="341" idx="3"/>
            <a:endCxn id="330" idx="1"/>
          </p:cNvCxnSpPr>
          <p:nvPr/>
        </p:nvCxnSpPr>
        <p:spPr>
          <a:xfrm>
            <a:off x="4727854" y="5140972"/>
            <a:ext cx="866700" cy="3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342" name="Google Shape;342;p45"/>
          <p:cNvCxnSpPr>
            <a:endCxn id="331" idx="1"/>
          </p:cNvCxnSpPr>
          <p:nvPr/>
        </p:nvCxnSpPr>
        <p:spPr>
          <a:xfrm>
            <a:off x="4699635" y="5316756"/>
            <a:ext cx="894900" cy="267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pic>
        <p:nvPicPr>
          <p:cNvPr id="341" name="Google Shape;341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43078" y="4848584"/>
            <a:ext cx="584776" cy="584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5"/>
          <p:cNvSpPr txBox="1"/>
          <p:nvPr/>
        </p:nvSpPr>
        <p:spPr>
          <a:xfrm>
            <a:off x="1425740" y="2500914"/>
            <a:ext cx="70603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참여자의 여러 가상머신 중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학습을 수행할 가상머신 결정 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</a:t>
            </a:r>
            <a:endParaRPr/>
          </a:p>
        </p:txBody>
      </p:sp>
      <p:sp>
        <p:nvSpPr>
          <p:cNvPr id="344" name="Google Shape;344;p45"/>
          <p:cNvSpPr txBox="1"/>
          <p:nvPr/>
        </p:nvSpPr>
        <p:spPr>
          <a:xfrm>
            <a:off x="1425740" y="2822644"/>
            <a:ext cx="706033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컴퓨팅 리소스가 부족하거나, 상태가 Inactive한 가상머신 선택할 경우</a:t>
            </a:r>
            <a:b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참여자 이탈 및 연합학습 실패</a:t>
            </a:r>
            <a:endParaRPr/>
          </a:p>
        </p:txBody>
      </p:sp>
      <p:sp>
        <p:nvSpPr>
          <p:cNvPr id="345" name="Google Shape;345;p45"/>
          <p:cNvSpPr txBox="1"/>
          <p:nvPr/>
        </p:nvSpPr>
        <p:spPr>
          <a:xfrm>
            <a:off x="1425740" y="3431555"/>
            <a:ext cx="66458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참여자 이탈 : 연합학습 참여자가 학습에 참여하지 못하는 것</a:t>
            </a:r>
            <a:endParaRPr/>
          </a:p>
        </p:txBody>
      </p:sp>
      <p:sp>
        <p:nvSpPr>
          <p:cNvPr id="346" name="Google Shape;346;p45"/>
          <p:cNvSpPr txBox="1"/>
          <p:nvPr/>
        </p:nvSpPr>
        <p:spPr>
          <a:xfrm>
            <a:off x="6080452" y="4586404"/>
            <a:ext cx="21284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vCPU: 1, RAM: 1GB, Status: Active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5"/>
          <p:cNvSpPr txBox="1"/>
          <p:nvPr/>
        </p:nvSpPr>
        <p:spPr>
          <a:xfrm>
            <a:off x="6092223" y="5042395"/>
            <a:ext cx="223350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vCPU: 2, RAM: 4GB, Status: Active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5"/>
          <p:cNvSpPr txBox="1"/>
          <p:nvPr/>
        </p:nvSpPr>
        <p:spPr>
          <a:xfrm>
            <a:off x="6116288" y="5445409"/>
            <a:ext cx="223350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vCPU: 2, RAM: 4GB, Status: Inactive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5"/>
          <p:cNvSpPr/>
          <p:nvPr/>
        </p:nvSpPr>
        <p:spPr>
          <a:xfrm rot="10800000">
            <a:off x="5798884" y="3989131"/>
            <a:ext cx="978585" cy="369335"/>
          </a:xfrm>
          <a:prstGeom prst="wedgeRoundRectCallout">
            <a:avLst>
              <a:gd name="adj1" fmla="val 35470"/>
              <a:gd name="adj2" fmla="val -82187"/>
              <a:gd name="adj3" fmla="val 16667"/>
            </a:avLst>
          </a:prstGeom>
          <a:solidFill>
            <a:srgbClr val="FEE599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5"/>
          <p:cNvSpPr txBox="1"/>
          <p:nvPr/>
        </p:nvSpPr>
        <p:spPr>
          <a:xfrm>
            <a:off x="5753538" y="4062139"/>
            <a:ext cx="132868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 리소스 부족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/>
          <p:nvPr/>
        </p:nvSpPr>
        <p:spPr>
          <a:xfrm rot="10800000">
            <a:off x="6250240" y="5850470"/>
            <a:ext cx="855178" cy="369335"/>
          </a:xfrm>
          <a:prstGeom prst="wedgeRoundRectCallout">
            <a:avLst>
              <a:gd name="adj1" fmla="val 41564"/>
              <a:gd name="adj2" fmla="val 93631"/>
              <a:gd name="adj3" fmla="val 16667"/>
            </a:avLst>
          </a:prstGeom>
          <a:solidFill>
            <a:srgbClr val="FEE599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5"/>
          <p:cNvSpPr txBox="1"/>
          <p:nvPr/>
        </p:nvSpPr>
        <p:spPr>
          <a:xfrm>
            <a:off x="6280161" y="5919723"/>
            <a:ext cx="80537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상태 Inactive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/>
          <p:nvPr/>
        </p:nvSpPr>
        <p:spPr>
          <a:xfrm>
            <a:off x="1111640" y="3357735"/>
            <a:ext cx="69207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연구 목표</a:t>
            </a:r>
            <a:endParaRPr/>
          </a:p>
        </p:txBody>
      </p:sp>
      <p:sp>
        <p:nvSpPr>
          <p:cNvPr id="359" name="Google Shape;359;p46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6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6000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6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연구 목표</a:t>
            </a:r>
            <a:endParaRPr/>
          </a:p>
        </p:txBody>
      </p:sp>
      <p:sp>
        <p:nvSpPr>
          <p:cNvPr id="367" name="Google Shape;367;p47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11</a:t>
            </a:fld>
            <a:endParaRPr/>
          </a:p>
        </p:txBody>
      </p:sp>
      <p:pic>
        <p:nvPicPr>
          <p:cNvPr id="2" name="Picture 2" descr="1번 ">
            <a:extLst>
              <a:ext uri="{FF2B5EF4-FFF2-40B4-BE49-F238E27FC236}">
                <a16:creationId xmlns:a16="http://schemas.microsoft.com/office/drawing/2014/main" id="{53378B67-5BE8-2B2B-74A3-3BADB31DC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2463700"/>
            <a:ext cx="37147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2 번 ">
            <a:hlinkClick r:id="rId4" tooltip="2 번"/>
            <a:extLst>
              <a:ext uri="{FF2B5EF4-FFF2-40B4-BE49-F238E27FC236}">
                <a16:creationId xmlns:a16="http://schemas.microsoft.com/office/drawing/2014/main" id="{A0BBB46D-B856-23ED-FA59-037A73DCC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2965804"/>
            <a:ext cx="37147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3번 ">
            <a:extLst>
              <a:ext uri="{FF2B5EF4-FFF2-40B4-BE49-F238E27FC236}">
                <a16:creationId xmlns:a16="http://schemas.microsoft.com/office/drawing/2014/main" id="{C59EBB71-7EBE-805E-D338-7BC0406FF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3472254"/>
            <a:ext cx="37147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DA922C-BE56-7648-1C25-D818351D4DCC}"/>
              </a:ext>
            </a:extLst>
          </p:cNvPr>
          <p:cNvSpPr txBox="1"/>
          <p:nvPr/>
        </p:nvSpPr>
        <p:spPr>
          <a:xfrm>
            <a:off x="2781300" y="2496358"/>
            <a:ext cx="4585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지연</a:t>
            </a:r>
            <a:r>
              <a:rPr lang="ko-KR" altLang="en-US" sz="1600" dirty="0"/>
              <a:t> </a:t>
            </a:r>
            <a:r>
              <a:rPr lang="ko-KR" altLang="en-US" sz="1600" b="1" dirty="0"/>
              <a:t>시간</a:t>
            </a:r>
            <a:r>
              <a:rPr lang="ko-KR" altLang="en-US" sz="1600" dirty="0"/>
              <a:t> 및 </a:t>
            </a:r>
            <a:r>
              <a:rPr lang="ko-KR" altLang="en-US" sz="1600" b="1" dirty="0"/>
              <a:t>비용 최적화 </a:t>
            </a:r>
            <a:r>
              <a:rPr lang="ko-KR" altLang="en-US" sz="1600" dirty="0"/>
              <a:t>부재</a:t>
            </a:r>
            <a:r>
              <a:rPr lang="en-US" altLang="ko-KR" sz="1600" dirty="0"/>
              <a:t>,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6AF46-630B-255A-1EB0-7F6968FE09C1}"/>
              </a:ext>
            </a:extLst>
          </p:cNvPr>
          <p:cNvSpPr txBox="1"/>
          <p:nvPr/>
        </p:nvSpPr>
        <p:spPr>
          <a:xfrm>
            <a:off x="2781300" y="2976690"/>
            <a:ext cx="4585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보안</a:t>
            </a:r>
            <a:r>
              <a:rPr lang="ko-KR" altLang="en-US" sz="1600" dirty="0"/>
              <a:t> 취약성 및 데이터 프라이버시 문제</a:t>
            </a:r>
            <a:r>
              <a:rPr lang="en-US" altLang="ko-KR" sz="1600" dirty="0"/>
              <a:t>,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DB5D3-B9AB-9F43-5628-1A38BA2CA5FE}"/>
              </a:ext>
            </a:extLst>
          </p:cNvPr>
          <p:cNvSpPr txBox="1"/>
          <p:nvPr/>
        </p:nvSpPr>
        <p:spPr>
          <a:xfrm>
            <a:off x="2781300" y="3467908"/>
            <a:ext cx="497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동적 태스크 오케스트레이션 </a:t>
            </a:r>
            <a:r>
              <a:rPr lang="ko-KR" altLang="en-US" sz="1600" dirty="0"/>
              <a:t>부재를 해결을 위한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7BEAF-27C3-8BBD-CD85-82B6DBDE1702}"/>
              </a:ext>
            </a:extLst>
          </p:cNvPr>
          <p:cNvSpPr txBox="1"/>
          <p:nvPr/>
        </p:nvSpPr>
        <p:spPr>
          <a:xfrm>
            <a:off x="0" y="4245171"/>
            <a:ext cx="9143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B4D83"/>
                </a:solidFill>
              </a:rPr>
              <a:t>“</a:t>
            </a:r>
            <a:r>
              <a:rPr lang="ko-KR" altLang="en-US" sz="3200" b="1" dirty="0">
                <a:solidFill>
                  <a:srgbClr val="0B4D83"/>
                </a:solidFill>
              </a:rPr>
              <a:t>멀티 클라우드 인프라 기반</a:t>
            </a:r>
            <a:br>
              <a:rPr lang="en-US" altLang="ko-KR" sz="3200" b="1" dirty="0">
                <a:solidFill>
                  <a:srgbClr val="0B4D83"/>
                </a:solidFill>
              </a:rPr>
            </a:br>
            <a:r>
              <a:rPr lang="ko-KR" altLang="en-US" sz="3200" b="1" dirty="0">
                <a:solidFill>
                  <a:srgbClr val="0B4D83"/>
                </a:solidFill>
              </a:rPr>
              <a:t>연합학습 환경 구축 플랫폼 개발</a:t>
            </a:r>
            <a:r>
              <a:rPr lang="en-US" altLang="ko-KR" sz="3200" b="1" dirty="0">
                <a:solidFill>
                  <a:srgbClr val="0B4D83"/>
                </a:solidFill>
              </a:rPr>
              <a:t>”</a:t>
            </a:r>
            <a:endParaRPr lang="ko-KR" altLang="en-US" sz="3200" b="1" dirty="0">
              <a:solidFill>
                <a:srgbClr val="0B4D8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/>
          <p:nvPr/>
        </p:nvSpPr>
        <p:spPr>
          <a:xfrm>
            <a:off x="186279" y="3196370"/>
            <a:ext cx="8796153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멀티 클라우드 인프라 기반</a:t>
            </a:r>
            <a:br>
              <a:rPr lang="ko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연합학습 환경 구축 플랫폼</a:t>
            </a:r>
            <a:endParaRPr/>
          </a:p>
        </p:txBody>
      </p:sp>
      <p:sp>
        <p:nvSpPr>
          <p:cNvPr id="381" name="Google Shape;381;p48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8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6000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8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제안 시스템</a:t>
            </a:r>
            <a:endParaRPr/>
          </a:p>
        </p:txBody>
      </p:sp>
      <p:sp>
        <p:nvSpPr>
          <p:cNvPr id="390" name="Google Shape;390;p49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  <p:sp>
        <p:nvSpPr>
          <p:cNvPr id="391" name="Google Shape;391;p49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9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9"/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구조도</a:t>
            </a:r>
            <a:endParaRPr/>
          </a:p>
        </p:txBody>
      </p:sp>
      <p:pic>
        <p:nvPicPr>
          <p:cNvPr id="395" name="Google Shape;39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9" descr="텍스트, 스크린샷, 도표, 폰트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4075" y="2138059"/>
            <a:ext cx="6575849" cy="389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BDAA7-CC0F-1D35-CF1F-025DCBC9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제안 시스템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2E314CA-5216-0376-7E0F-D08D009B50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14</a:t>
            </a:fld>
            <a:endParaRPr lang="ko" altLang="en-US"/>
          </a:p>
        </p:txBody>
      </p:sp>
      <p:sp>
        <p:nvSpPr>
          <p:cNvPr id="4" name="Google Shape;391;p49">
            <a:extLst>
              <a:ext uri="{FF2B5EF4-FFF2-40B4-BE49-F238E27FC236}">
                <a16:creationId xmlns:a16="http://schemas.microsoft.com/office/drawing/2014/main" id="{9A7EF6FF-55B5-AF13-4F25-42F7AB287FC1}"/>
              </a:ext>
            </a:extLst>
          </p:cNvPr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92;p49">
            <a:extLst>
              <a:ext uri="{FF2B5EF4-FFF2-40B4-BE49-F238E27FC236}">
                <a16:creationId xmlns:a16="http://schemas.microsoft.com/office/drawing/2014/main" id="{EF6DE069-A515-2903-7B39-A4DEFFC23BDE}"/>
              </a:ext>
            </a:extLst>
          </p:cNvPr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93;p49">
            <a:extLst>
              <a:ext uri="{FF2B5EF4-FFF2-40B4-BE49-F238E27FC236}">
                <a16:creationId xmlns:a16="http://schemas.microsoft.com/office/drawing/2014/main" id="{D4449E04-46CA-6144-9DB2-6B08B2190AC0}"/>
              </a:ext>
            </a:extLst>
          </p:cNvPr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94;p49">
            <a:extLst>
              <a:ext uri="{FF2B5EF4-FFF2-40B4-BE49-F238E27FC236}">
                <a16:creationId xmlns:a16="http://schemas.microsoft.com/office/drawing/2014/main" id="{E6323F00-42EB-632F-0514-F231C5C1A557}"/>
              </a:ext>
            </a:extLst>
          </p:cNvPr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3F3F3F"/>
                </a:solidFill>
              </a:rPr>
              <a:t>계층 구조 기반 연합학습 수행</a:t>
            </a:r>
            <a:endParaRPr dirty="0"/>
          </a:p>
        </p:txBody>
      </p:sp>
      <p:pic>
        <p:nvPicPr>
          <p:cNvPr id="8" name="Google Shape;395;p49">
            <a:extLst>
              <a:ext uri="{FF2B5EF4-FFF2-40B4-BE49-F238E27FC236}">
                <a16:creationId xmlns:a16="http://schemas.microsoft.com/office/drawing/2014/main" id="{0A06E147-B18E-C9B4-0DD2-C58B8BD444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7;p49">
            <a:extLst>
              <a:ext uri="{FF2B5EF4-FFF2-40B4-BE49-F238E27FC236}">
                <a16:creationId xmlns:a16="http://schemas.microsoft.com/office/drawing/2014/main" id="{9459D5A8-DCDC-BC02-EBD3-722F0192CD94}"/>
              </a:ext>
            </a:extLst>
          </p:cNvPr>
          <p:cNvSpPr txBox="1"/>
          <p:nvPr/>
        </p:nvSpPr>
        <p:spPr>
          <a:xfrm>
            <a:off x="781075" y="1888793"/>
            <a:ext cx="740138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퍼블릭 클라우드 – 프라이빗 클라우드 역할 분리를 기반으로 한 연합학습 수행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프라이빗 클라우드: 자체 데이터를 사용해 모델 학습 수행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퍼블릭 클라우드: 모델 파라미터를 수신 받아 통계 작업 수행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82;p25">
            <a:extLst>
              <a:ext uri="{FF2B5EF4-FFF2-40B4-BE49-F238E27FC236}">
                <a16:creationId xmlns:a16="http://schemas.microsoft.com/office/drawing/2014/main" id="{A2D1496F-B9E5-A69E-9EA1-BD8C5EF9A5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b="3999"/>
          <a:stretch>
            <a:fillRect/>
          </a:stretch>
        </p:blipFill>
        <p:spPr>
          <a:xfrm>
            <a:off x="1825722" y="2836692"/>
            <a:ext cx="5237765" cy="3570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92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제안 시스템</a:t>
            </a:r>
            <a:endParaRPr/>
          </a:p>
        </p:txBody>
      </p:sp>
      <p:sp>
        <p:nvSpPr>
          <p:cNvPr id="404" name="Google Shape;404;p50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15</a:t>
            </a:fld>
            <a:endParaRPr/>
          </a:p>
        </p:txBody>
      </p:sp>
      <p:sp>
        <p:nvSpPr>
          <p:cNvPr id="405" name="Google Shape;405;p50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0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0"/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Cloud Authenticator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0"/>
          <p:cNvSpPr txBox="1"/>
          <p:nvPr/>
        </p:nvSpPr>
        <p:spPr>
          <a:xfrm>
            <a:off x="773522" y="1922340"/>
            <a:ext cx="76626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 클라우드 서비스를 제공하기 위해 다양한 클라우드 플랫폼과의 연동을 수행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410" y="4918867"/>
            <a:ext cx="1238423" cy="118126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0"/>
          <p:cNvSpPr/>
          <p:nvPr/>
        </p:nvSpPr>
        <p:spPr>
          <a:xfrm>
            <a:off x="1388527" y="5065432"/>
            <a:ext cx="1777182" cy="393214"/>
          </a:xfrm>
          <a:prstGeom prst="roundRect">
            <a:avLst>
              <a:gd name="adj" fmla="val 16667"/>
            </a:avLst>
          </a:prstGeom>
          <a:solidFill>
            <a:srgbClr val="F7A3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자격 증명</a:t>
            </a:r>
            <a:endParaRPr/>
          </a:p>
        </p:txBody>
      </p:sp>
      <p:sp>
        <p:nvSpPr>
          <p:cNvPr id="413" name="Google Shape;413;p50"/>
          <p:cNvSpPr/>
          <p:nvPr/>
        </p:nvSpPr>
        <p:spPr>
          <a:xfrm>
            <a:off x="1388527" y="5593450"/>
            <a:ext cx="1777182" cy="393214"/>
          </a:xfrm>
          <a:prstGeom prst="roundRect">
            <a:avLst>
              <a:gd name="adj" fmla="val 16667"/>
            </a:avLst>
          </a:prstGeom>
          <a:solidFill>
            <a:srgbClr val="A6D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자격 증명</a:t>
            </a:r>
            <a:endParaRPr/>
          </a:p>
        </p:txBody>
      </p:sp>
      <p:pic>
        <p:nvPicPr>
          <p:cNvPr id="414" name="Google Shape;414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5775" y="4273446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1180" y="5250576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0" y="3754584"/>
            <a:ext cx="507243" cy="507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50"/>
          <p:cNvCxnSpPr>
            <a:endCxn id="411" idx="0"/>
          </p:cNvCxnSpPr>
          <p:nvPr/>
        </p:nvCxnSpPr>
        <p:spPr>
          <a:xfrm>
            <a:off x="4825622" y="4314667"/>
            <a:ext cx="0" cy="604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8" name="Google Shape;418;p50"/>
          <p:cNvSpPr txBox="1"/>
          <p:nvPr/>
        </p:nvSpPr>
        <p:spPr>
          <a:xfrm>
            <a:off x="3516383" y="4414994"/>
            <a:ext cx="13800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Service Request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50"/>
          <p:cNvCxnSpPr/>
          <p:nvPr/>
        </p:nvCxnSpPr>
        <p:spPr>
          <a:xfrm rot="10800000">
            <a:off x="3265940" y="5509499"/>
            <a:ext cx="1092717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0" name="Google Shape;420;p50"/>
          <p:cNvSpPr txBox="1"/>
          <p:nvPr/>
        </p:nvSpPr>
        <p:spPr>
          <a:xfrm>
            <a:off x="3165709" y="5203014"/>
            <a:ext cx="13800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Authentication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0"/>
          <p:cNvSpPr txBox="1"/>
          <p:nvPr/>
        </p:nvSpPr>
        <p:spPr>
          <a:xfrm>
            <a:off x="5105480" y="4956723"/>
            <a:ext cx="13800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Service Routing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50"/>
          <p:cNvCxnSpPr/>
          <p:nvPr/>
        </p:nvCxnSpPr>
        <p:spPr>
          <a:xfrm rot="10800000" flipH="1">
            <a:off x="5288757" y="5250576"/>
            <a:ext cx="1051778" cy="9093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3" name="Google Shape;423;p50"/>
          <p:cNvSpPr txBox="1"/>
          <p:nvPr/>
        </p:nvSpPr>
        <p:spPr>
          <a:xfrm>
            <a:off x="613631" y="2459000"/>
            <a:ext cx="81840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클라우드 자격 증명 파일 업로드 </a:t>
            </a:r>
            <a:r>
              <a:rPr kumimoji="1" lang="en-US" altLang="ko-KR" sz="1600" b="1" dirty="0">
                <a:sym typeface="Wingdings" pitchFamily="2" charset="2"/>
              </a:rPr>
              <a:t>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클라우드 API 호출 기반 검증 </a:t>
            </a:r>
            <a:r>
              <a:rPr kumimoji="1" lang="en-US" altLang="ko-KR" sz="1600" b="1" dirty="0">
                <a:sym typeface="Wingdings" pitchFamily="2" charset="2"/>
              </a:rPr>
              <a:t>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검증성공 시 연동 완료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0"/>
          <p:cNvSpPr/>
          <p:nvPr/>
        </p:nvSpPr>
        <p:spPr>
          <a:xfrm>
            <a:off x="773522" y="2900557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0"/>
          <p:cNvSpPr txBox="1"/>
          <p:nvPr/>
        </p:nvSpPr>
        <p:spPr>
          <a:xfrm>
            <a:off x="1059318" y="2877787"/>
            <a:ext cx="30346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 클라우드 서비스 활용 가능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제안 시스템</a:t>
            </a:r>
            <a:endParaRPr/>
          </a:p>
        </p:txBody>
      </p:sp>
      <p:sp>
        <p:nvSpPr>
          <p:cNvPr id="432" name="Google Shape;432;p51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16</a:t>
            </a:fld>
            <a:endParaRPr/>
          </a:p>
        </p:txBody>
      </p:sp>
      <p:sp>
        <p:nvSpPr>
          <p:cNvPr id="433" name="Google Shape;433;p51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1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1"/>
          <p:cNvSpPr/>
          <p:nvPr/>
        </p:nvSpPr>
        <p:spPr>
          <a:xfrm>
            <a:off x="1135883" y="1319643"/>
            <a:ext cx="57162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Aggregator Deployment Optimizer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624" y="1252170"/>
            <a:ext cx="439277" cy="439277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1"/>
          <p:cNvSpPr txBox="1"/>
          <p:nvPr/>
        </p:nvSpPr>
        <p:spPr>
          <a:xfrm>
            <a:off x="773522" y="1922340"/>
            <a:ext cx="685571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요구사항 기반 </a:t>
            </a:r>
            <a:r>
              <a:rPr lang="ko-KR" alt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배포 위치 및 스펙</a:t>
            </a: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(CPU, RAM)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최적화</a:t>
            </a:r>
            <a:endParaRPr lang="en-US" altLang="ko-KR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endParaRPr lang="en-US" altLang="ko-KR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</a:t>
            </a: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유전 알고리즘 중 하나인 </a:t>
            </a: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NSGA-II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이용한 다목적 최적화</a:t>
            </a:r>
            <a:endParaRPr lang="en-US" altLang="ko-KR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그림 1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92D20F-1594-914E-59F5-FE4D8A910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68" y="2903745"/>
            <a:ext cx="4176396" cy="3255387"/>
          </a:xfrm>
          <a:prstGeom prst="rect">
            <a:avLst/>
          </a:prstGeom>
        </p:spPr>
      </p:pic>
      <p:sp>
        <p:nvSpPr>
          <p:cNvPr id="3" name="Google Shape;438;p51">
            <a:extLst>
              <a:ext uri="{FF2B5EF4-FFF2-40B4-BE49-F238E27FC236}">
                <a16:creationId xmlns:a16="http://schemas.microsoft.com/office/drawing/2014/main" id="{6BD01797-2AAF-1E4B-DFD8-52D67CBF31E2}"/>
              </a:ext>
            </a:extLst>
          </p:cNvPr>
          <p:cNvSpPr txBox="1"/>
          <p:nvPr/>
        </p:nvSpPr>
        <p:spPr>
          <a:xfrm>
            <a:off x="7173817" y="2903326"/>
            <a:ext cx="197018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8">
              <a:buClr>
                <a:schemeClr val="dk1"/>
              </a:buClr>
              <a:buSzPts val="1600"/>
            </a:pP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요구사항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8" indent="-28575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최대 허용 비용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8" indent="-28575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최대 허용 지연시간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8" indent="-28575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지연시간 가중치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482;p53">
            <a:extLst>
              <a:ext uri="{FF2B5EF4-FFF2-40B4-BE49-F238E27FC236}">
                <a16:creationId xmlns:a16="http://schemas.microsoft.com/office/drawing/2014/main" id="{6871D160-6D33-A179-A2C1-A8097CC7A6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957" r="2732" b="35258"/>
          <a:stretch/>
        </p:blipFill>
        <p:spPr>
          <a:xfrm>
            <a:off x="5398914" y="3965918"/>
            <a:ext cx="3319025" cy="23058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38;p51">
            <a:extLst>
              <a:ext uri="{FF2B5EF4-FFF2-40B4-BE49-F238E27FC236}">
                <a16:creationId xmlns:a16="http://schemas.microsoft.com/office/drawing/2014/main" id="{35597251-19A3-F921-6B19-8C0CB1C50193}"/>
              </a:ext>
            </a:extLst>
          </p:cNvPr>
          <p:cNvSpPr txBox="1"/>
          <p:nvPr/>
        </p:nvSpPr>
        <p:spPr>
          <a:xfrm>
            <a:off x="5189889" y="2908842"/>
            <a:ext cx="2057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8">
              <a:buClr>
                <a:schemeClr val="dk1"/>
              </a:buClr>
              <a:buSzPts val="1600"/>
            </a:pP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다목적 최적화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8">
              <a:buClr>
                <a:schemeClr val="dk1"/>
              </a:buClr>
              <a:buSzPts val="1600"/>
            </a:pP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itchFamily="2" charset="2"/>
              </a:rPr>
              <a:t>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비용</a:t>
            </a:r>
            <a:r>
              <a:rPr lang="en-US" altLang="ko-K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-KR" alt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성능같이 상충될 수 있는 두 개 이상의 목표의 균형점을 찾는 방법</a:t>
            </a:r>
            <a:endParaRPr lang="en-US" altLang="ko-KR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9B2E92F4-2AFB-ADDA-5AA1-9F930F56E6D8}"/>
              </a:ext>
            </a:extLst>
          </p:cNvPr>
          <p:cNvSpPr/>
          <p:nvPr/>
        </p:nvSpPr>
        <p:spPr>
          <a:xfrm>
            <a:off x="4853314" y="5046133"/>
            <a:ext cx="463753" cy="3894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4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제안 시스템</a:t>
            </a:r>
            <a:endParaRPr/>
          </a:p>
        </p:txBody>
      </p:sp>
      <p:sp>
        <p:nvSpPr>
          <p:cNvPr id="488" name="Google Shape;488;p54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17</a:t>
            </a:fld>
            <a:endParaRPr/>
          </a:p>
        </p:txBody>
      </p:sp>
      <p:sp>
        <p:nvSpPr>
          <p:cNvPr id="489" name="Google Shape;489;p54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4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4"/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Federated Learning Initializer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4"/>
          <p:cNvSpPr txBox="1"/>
          <p:nvPr/>
        </p:nvSpPr>
        <p:spPr>
          <a:xfrm>
            <a:off x="773522" y="1922340"/>
            <a:ext cx="7334612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집계자와 연합학습 참여자</a:t>
            </a:r>
            <a:r>
              <a:rPr lang="ko-KR" alt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연계한 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수행을 위해</a:t>
            </a:r>
            <a:b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환경 설정 및 연합학습 수행 명령 전달 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학습할 모델</a:t>
            </a:r>
            <a:r>
              <a:rPr lang="en-US" alt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파일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집계자의 주소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학습 하이퍼파라미터(epoch, batch size 등)</a:t>
            </a:r>
            <a:endParaRPr dirty="0"/>
          </a:p>
        </p:txBody>
      </p:sp>
      <p:pic>
        <p:nvPicPr>
          <p:cNvPr id="495" name="Google Shape;495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1459" y="3535995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7589" y="5281440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6539" y="5490255"/>
            <a:ext cx="977130" cy="97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0409" y="5314940"/>
            <a:ext cx="977131" cy="977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54"/>
          <p:cNvCxnSpPr/>
          <p:nvPr/>
        </p:nvCxnSpPr>
        <p:spPr>
          <a:xfrm rot="10800000">
            <a:off x="6273678" y="4407984"/>
            <a:ext cx="790068" cy="873456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500" name="Google Shape;500;p54"/>
          <p:cNvCxnSpPr>
            <a:stCxn id="497" idx="0"/>
            <a:endCxn id="495" idx="2"/>
          </p:cNvCxnSpPr>
          <p:nvPr/>
        </p:nvCxnSpPr>
        <p:spPr>
          <a:xfrm rot="10800000" flipH="1">
            <a:off x="5695104" y="4513155"/>
            <a:ext cx="34800" cy="977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cxnSp>
        <p:nvCxnSpPr>
          <p:cNvPr id="501" name="Google Shape;501;p54"/>
          <p:cNvCxnSpPr/>
          <p:nvPr/>
        </p:nvCxnSpPr>
        <p:spPr>
          <a:xfrm rot="10800000" flipH="1">
            <a:off x="4274198" y="4407984"/>
            <a:ext cx="847035" cy="80920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miter lim="800000"/>
            <a:headEnd type="triangle" w="med" len="med"/>
            <a:tailEnd type="triangle" w="med" len="med"/>
          </a:ln>
        </p:spPr>
      </p:cxnSp>
      <p:pic>
        <p:nvPicPr>
          <p:cNvPr id="502" name="Google Shape;502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95612" y="4393168"/>
            <a:ext cx="419418" cy="41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69683" y="4859879"/>
            <a:ext cx="432052" cy="43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6008" y="4505717"/>
            <a:ext cx="432827" cy="432827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4"/>
          <p:cNvSpPr txBox="1"/>
          <p:nvPr/>
        </p:nvSpPr>
        <p:spPr>
          <a:xfrm>
            <a:off x="3751184" y="5838200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4"/>
          <p:cNvSpPr txBox="1"/>
          <p:nvPr/>
        </p:nvSpPr>
        <p:spPr>
          <a:xfrm>
            <a:off x="5242647" y="4246432"/>
            <a:ext cx="9759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4"/>
          <p:cNvSpPr txBox="1"/>
          <p:nvPr/>
        </p:nvSpPr>
        <p:spPr>
          <a:xfrm>
            <a:off x="5380134" y="6023640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4"/>
          <p:cNvSpPr txBox="1"/>
          <p:nvPr/>
        </p:nvSpPr>
        <p:spPr>
          <a:xfrm>
            <a:off x="7044004" y="5861730"/>
            <a:ext cx="6299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02855" y="3307656"/>
            <a:ext cx="419418" cy="419418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4"/>
          <p:cNvSpPr txBox="1"/>
          <p:nvPr/>
        </p:nvSpPr>
        <p:spPr>
          <a:xfrm>
            <a:off x="5892857" y="3378865"/>
            <a:ext cx="11637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4"/>
          <p:cNvSpPr txBox="1"/>
          <p:nvPr/>
        </p:nvSpPr>
        <p:spPr>
          <a:xfrm>
            <a:off x="4165457" y="4202767"/>
            <a:ext cx="80013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4"/>
          <p:cNvSpPr txBox="1"/>
          <p:nvPr/>
        </p:nvSpPr>
        <p:spPr>
          <a:xfrm>
            <a:off x="6507386" y="4324030"/>
            <a:ext cx="79006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4"/>
          <p:cNvSpPr txBox="1"/>
          <p:nvPr/>
        </p:nvSpPr>
        <p:spPr>
          <a:xfrm>
            <a:off x="5013455" y="4695260"/>
            <a:ext cx="78942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25952" y="5446063"/>
            <a:ext cx="394401" cy="3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66458" y="5640999"/>
            <a:ext cx="394401" cy="3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10887" y="5467328"/>
            <a:ext cx="394401" cy="39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27543" y="4080127"/>
            <a:ext cx="1045499" cy="1045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8" name="Google Shape;518;p54"/>
          <p:cNvCxnSpPr>
            <a:stCxn id="517" idx="0"/>
          </p:cNvCxnSpPr>
          <p:nvPr/>
        </p:nvCxnSpPr>
        <p:spPr>
          <a:xfrm rot="-5400000">
            <a:off x="3515493" y="2474527"/>
            <a:ext cx="140400" cy="3070800"/>
          </a:xfrm>
          <a:prstGeom prst="bentConnector2">
            <a:avLst/>
          </a:prstGeom>
          <a:noFill/>
          <a:ln w="38100" cap="flat" cmpd="sng">
            <a:solidFill>
              <a:srgbClr val="0B4D8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9" name="Google Shape;519;p54"/>
          <p:cNvCxnSpPr>
            <a:stCxn id="517" idx="2"/>
          </p:cNvCxnSpPr>
          <p:nvPr/>
        </p:nvCxnSpPr>
        <p:spPr>
          <a:xfrm rot="-5400000" flipH="1">
            <a:off x="2504043" y="4671876"/>
            <a:ext cx="504000" cy="1411500"/>
          </a:xfrm>
          <a:prstGeom prst="bentConnector2">
            <a:avLst/>
          </a:prstGeom>
          <a:noFill/>
          <a:ln w="38100" cap="flat" cmpd="sng">
            <a:solidFill>
              <a:srgbClr val="0B4D8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0" name="Google Shape;520;p54"/>
          <p:cNvSpPr txBox="1"/>
          <p:nvPr/>
        </p:nvSpPr>
        <p:spPr>
          <a:xfrm>
            <a:off x="1953286" y="3559013"/>
            <a:ext cx="351317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r>
              <a:rPr lang="en-US" altLang="ko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ko-KR" alt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model, hyperparameter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4"/>
          <p:cNvSpPr txBox="1"/>
          <p:nvPr/>
        </p:nvSpPr>
        <p:spPr>
          <a:xfrm>
            <a:off x="2275519" y="5276393"/>
            <a:ext cx="104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20;p54">
            <a:extLst>
              <a:ext uri="{FF2B5EF4-FFF2-40B4-BE49-F238E27FC236}">
                <a16:creationId xmlns:a16="http://schemas.microsoft.com/office/drawing/2014/main" id="{D84CA992-888E-C697-A85C-72F96BF6DA22}"/>
              </a:ext>
            </a:extLst>
          </p:cNvPr>
          <p:cNvSpPr txBox="1"/>
          <p:nvPr/>
        </p:nvSpPr>
        <p:spPr>
          <a:xfrm>
            <a:off x="1391171" y="5597456"/>
            <a:ext cx="223949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model, hyperparameter, </a:t>
            </a:r>
            <a:b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aggregator address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5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제안 시스템</a:t>
            </a:r>
            <a:endParaRPr/>
          </a:p>
        </p:txBody>
      </p:sp>
      <p:sp>
        <p:nvSpPr>
          <p:cNvPr id="527" name="Google Shape;527;p55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18</a:t>
            </a:fld>
            <a:endParaRPr/>
          </a:p>
        </p:txBody>
      </p:sp>
      <p:sp>
        <p:nvSpPr>
          <p:cNvPr id="528" name="Google Shape;528;p55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5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5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5"/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Dynamic Task Orchestrator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5"/>
          <p:cNvSpPr/>
          <p:nvPr/>
        </p:nvSpPr>
        <p:spPr>
          <a:xfrm>
            <a:off x="773522" y="4928686"/>
            <a:ext cx="1039548" cy="46885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</a:t>
            </a:r>
            <a:b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작업 생성</a:t>
            </a:r>
            <a:endParaRPr/>
          </a:p>
        </p:txBody>
      </p:sp>
      <p:cxnSp>
        <p:nvCxnSpPr>
          <p:cNvPr id="534" name="Google Shape;534;p55"/>
          <p:cNvCxnSpPr>
            <a:stCxn id="533" idx="3"/>
            <a:endCxn id="535" idx="1"/>
          </p:cNvCxnSpPr>
          <p:nvPr/>
        </p:nvCxnSpPr>
        <p:spPr>
          <a:xfrm rot="10800000" flipH="1">
            <a:off x="1813070" y="5157416"/>
            <a:ext cx="619500" cy="57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5" name="Google Shape;535;p55"/>
          <p:cNvSpPr/>
          <p:nvPr/>
        </p:nvSpPr>
        <p:spPr>
          <a:xfrm>
            <a:off x="2432653" y="4928686"/>
            <a:ext cx="1039549" cy="457600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최소 자원</a:t>
            </a:r>
            <a:b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필터링</a:t>
            </a:r>
            <a:endParaRPr/>
          </a:p>
        </p:txBody>
      </p:sp>
      <p:sp>
        <p:nvSpPr>
          <p:cNvPr id="536" name="Google Shape;536;p55"/>
          <p:cNvSpPr txBox="1"/>
          <p:nvPr/>
        </p:nvSpPr>
        <p:spPr>
          <a:xfrm>
            <a:off x="773522" y="1922340"/>
            <a:ext cx="807304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여러 대의 가상머신을 운영하는 연합학습 참여자에게 가상머신의 자원 상태를 고려해</a:t>
            </a:r>
            <a:b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적절한 가상머신에 작업을 할당</a:t>
            </a:r>
            <a:b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참여자의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이탈률을 줄이고 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</a:t>
            </a: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작업의 안정성을</a:t>
            </a: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높이기 위함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수행 흐름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최소 자원 기반 필터링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원형 큐 기반 작업 할당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할당 된 가상머신에서 작업 실패 시 재시도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55"/>
          <p:cNvCxnSpPr>
            <a:stCxn id="535" idx="3"/>
            <a:endCxn id="538" idx="1"/>
          </p:cNvCxnSpPr>
          <p:nvPr/>
        </p:nvCxnSpPr>
        <p:spPr>
          <a:xfrm rot="10800000" flipH="1">
            <a:off x="3472202" y="5151786"/>
            <a:ext cx="676500" cy="57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9" name="Google Shape;539;p55"/>
          <p:cNvCxnSpPr>
            <a:stCxn id="538" idx="3"/>
            <a:endCxn id="540" idx="1"/>
          </p:cNvCxnSpPr>
          <p:nvPr/>
        </p:nvCxnSpPr>
        <p:spPr>
          <a:xfrm rot="10800000" flipH="1">
            <a:off x="5288063" y="5149456"/>
            <a:ext cx="568200" cy="24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0" name="Google Shape;540;p55"/>
          <p:cNvSpPr/>
          <p:nvPr/>
        </p:nvSpPr>
        <p:spPr>
          <a:xfrm>
            <a:off x="5856208" y="4816521"/>
            <a:ext cx="1301282" cy="665656"/>
          </a:xfrm>
          <a:prstGeom prst="flowChartDecision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작업 성공</a:t>
            </a:r>
            <a:endParaRPr/>
          </a:p>
        </p:txBody>
      </p:sp>
      <p:sp>
        <p:nvSpPr>
          <p:cNvPr id="541" name="Google Shape;541;p55"/>
          <p:cNvSpPr txBox="1"/>
          <p:nvPr/>
        </p:nvSpPr>
        <p:spPr>
          <a:xfrm>
            <a:off x="7062411" y="4849709"/>
            <a:ext cx="6529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55"/>
          <p:cNvCxnSpPr>
            <a:stCxn id="540" idx="3"/>
          </p:cNvCxnSpPr>
          <p:nvPr/>
        </p:nvCxnSpPr>
        <p:spPr>
          <a:xfrm rot="10800000" flipH="1">
            <a:off x="7157490" y="5140049"/>
            <a:ext cx="663900" cy="93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8" name="Google Shape;538;p55"/>
          <p:cNvSpPr/>
          <p:nvPr/>
        </p:nvSpPr>
        <p:spPr>
          <a:xfrm>
            <a:off x="4148706" y="4917426"/>
            <a:ext cx="1139357" cy="46885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원형 큐 기반 작업 할당</a:t>
            </a:r>
            <a:endParaRPr/>
          </a:p>
        </p:txBody>
      </p:sp>
      <p:cxnSp>
        <p:nvCxnSpPr>
          <p:cNvPr id="543" name="Google Shape;543;p55"/>
          <p:cNvCxnSpPr>
            <a:stCxn id="540" idx="2"/>
            <a:endCxn id="538" idx="2"/>
          </p:cNvCxnSpPr>
          <p:nvPr/>
        </p:nvCxnSpPr>
        <p:spPr>
          <a:xfrm rot="5400000" flipH="1">
            <a:off x="5564549" y="4539877"/>
            <a:ext cx="96000" cy="1788600"/>
          </a:xfrm>
          <a:prstGeom prst="bentConnector3">
            <a:avLst>
              <a:gd name="adj1" fmla="val -238125"/>
            </a:avLst>
          </a:prstGeom>
          <a:noFill/>
          <a:ln w="3810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4" name="Google Shape;544;p55"/>
          <p:cNvSpPr txBox="1"/>
          <p:nvPr/>
        </p:nvSpPr>
        <p:spPr>
          <a:xfrm>
            <a:off x="6504547" y="5378495"/>
            <a:ext cx="6529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5"/>
          <p:cNvSpPr/>
          <p:nvPr/>
        </p:nvSpPr>
        <p:spPr>
          <a:xfrm>
            <a:off x="7805939" y="4943841"/>
            <a:ext cx="831044" cy="427402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끝</a:t>
            </a:r>
            <a:endParaRPr/>
          </a:p>
        </p:txBody>
      </p:sp>
      <p:sp>
        <p:nvSpPr>
          <p:cNvPr id="546" name="Google Shape;546;p55"/>
          <p:cNvSpPr txBox="1"/>
          <p:nvPr/>
        </p:nvSpPr>
        <p:spPr>
          <a:xfrm>
            <a:off x="4895098" y="1078127"/>
            <a:ext cx="43346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참여자 이탈 : 연합학습 참여자가 학습에 참여하지 못하는 것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E88B8A-D10B-3564-7767-23F9A5C1F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</p:spPr>
        <p:txBody>
          <a:bodyPr/>
          <a:lstStyle/>
          <a:p>
            <a:r>
              <a:rPr kumimoji="1" lang="ko-KR" altLang="en-US" dirty="0"/>
              <a:t>제안 시스템</a:t>
            </a:r>
          </a:p>
        </p:txBody>
      </p:sp>
      <p:sp>
        <p:nvSpPr>
          <p:cNvPr id="4" name="L 도형 3">
            <a:extLst>
              <a:ext uri="{FF2B5EF4-FFF2-40B4-BE49-F238E27FC236}">
                <a16:creationId xmlns:a16="http://schemas.microsoft.com/office/drawing/2014/main" id="{A2F41445-4325-EA77-7F76-E9A623273F4C}"/>
              </a:ext>
            </a:extLst>
          </p:cNvPr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 flip="none" rotWithShape="1">
            <a:gsLst>
              <a:gs pos="71300">
                <a:srgbClr val="D4E9FB"/>
              </a:gs>
              <a:gs pos="0">
                <a:srgbClr val="6AB4F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1223A22-ECAF-BB15-7A3C-2EC617C72A5A}"/>
              </a:ext>
            </a:extLst>
          </p:cNvPr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3A88CE-D6CE-474C-6283-6A9BCFEE4329}"/>
              </a:ext>
            </a:extLst>
          </p:cNvPr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bg1"/>
          </a:solidFill>
          <a:ln w="63500">
            <a:solidFill>
              <a:srgbClr val="6AB4F2"/>
            </a:solidFill>
          </a:ln>
          <a:effectLst>
            <a:outerShdw blurRad="50800" dist="88900" dir="8100000" sx="96000" sy="96000" algn="tr" rotWithShape="0">
              <a:schemeClr val="tx1">
                <a:lumMod val="75000"/>
                <a:lumOff val="2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F3C631-970E-0CE9-3FBD-544E26B55EE6}"/>
              </a:ext>
            </a:extLst>
          </p:cNvPr>
          <p:cNvSpPr/>
          <p:nvPr/>
        </p:nvSpPr>
        <p:spPr>
          <a:xfrm>
            <a:off x="1135883" y="1319643"/>
            <a:ext cx="52397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n w="17780" cmpd="sng"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  <a:prstDash val="solid"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Model Manager</a:t>
            </a:r>
            <a:endParaRPr lang="ko-KR" altLang="en-US" sz="2400" b="1" dirty="0">
              <a:ln w="17780" cmpd="sng">
                <a:solidFill>
                  <a:schemeClr val="tx1">
                    <a:lumMod val="85000"/>
                    <a:lumOff val="15000"/>
                    <a:alpha val="0"/>
                  </a:schemeClr>
                </a:solidFill>
                <a:prstDash val="solid"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9407B3-5DCB-81CD-F263-32C7E23B35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31" y="1300566"/>
            <a:ext cx="393879" cy="393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7D910E-176E-BC4E-2EC0-21B122888B46}"/>
              </a:ext>
            </a:extLst>
          </p:cNvPr>
          <p:cNvSpPr txBox="1"/>
          <p:nvPr/>
        </p:nvSpPr>
        <p:spPr>
          <a:xfrm>
            <a:off x="773522" y="1922340"/>
            <a:ext cx="7598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600" b="1" dirty="0"/>
              <a:t>연합학습 과정에서 생성되는 연합학습 모델</a:t>
            </a:r>
            <a:r>
              <a:rPr kumimoji="1" lang="en-US" altLang="ko-KR" sz="1600" b="1" dirty="0"/>
              <a:t>(</a:t>
            </a:r>
            <a:r>
              <a:rPr kumimoji="1" lang="ko-KR" altLang="en-US" sz="1600" b="1" dirty="0"/>
              <a:t>가중치</a:t>
            </a:r>
            <a:r>
              <a:rPr kumimoji="1" lang="en-US" altLang="ko-KR" sz="1600" b="1" dirty="0"/>
              <a:t>, </a:t>
            </a:r>
            <a:r>
              <a:rPr kumimoji="1" lang="ko-KR" altLang="en-US" sz="1600" b="1" dirty="0" err="1"/>
              <a:t>메트릭</a:t>
            </a:r>
            <a:r>
              <a:rPr kumimoji="1" lang="en-US" altLang="ko-KR" sz="1600" b="1" dirty="0"/>
              <a:t>, </a:t>
            </a:r>
            <a:r>
              <a:rPr kumimoji="1" lang="ko-KR" altLang="en-US" sz="1600" b="1" dirty="0"/>
              <a:t>메타데이터</a:t>
            </a:r>
            <a:r>
              <a:rPr kumimoji="1" lang="en-US" altLang="ko-KR" sz="1600" b="1" dirty="0"/>
              <a:t>)</a:t>
            </a:r>
            <a:r>
              <a:rPr kumimoji="1" lang="ko-KR" altLang="en-US" sz="1600" b="1" dirty="0"/>
              <a:t>를 관리</a:t>
            </a:r>
            <a:endParaRPr kumimoji="1" lang="en-US" altLang="ko-KR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C1E94-3575-9D87-7470-78C9A93C667B}"/>
              </a:ext>
            </a:extLst>
          </p:cNvPr>
          <p:cNvSpPr txBox="1"/>
          <p:nvPr/>
        </p:nvSpPr>
        <p:spPr>
          <a:xfrm>
            <a:off x="803466" y="4469916"/>
            <a:ext cx="5572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600" b="1" dirty="0">
                <a:latin typeface="+mn-ea"/>
              </a:rPr>
              <a:t>3)</a:t>
            </a:r>
            <a:r>
              <a:rPr kumimoji="1" lang="ko-KR" altLang="en-US" sz="1600" b="1" dirty="0">
                <a:latin typeface="+mn-ea"/>
              </a:rPr>
              <a:t>   최적 모델 다운로드</a:t>
            </a:r>
            <a:endParaRPr kumimoji="1" lang="en-US" altLang="ko-KR" sz="16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A2C1A-3F3F-5FBF-83AE-855BF888641E}"/>
              </a:ext>
            </a:extLst>
          </p:cNvPr>
          <p:cNvSpPr txBox="1"/>
          <p:nvPr/>
        </p:nvSpPr>
        <p:spPr>
          <a:xfrm>
            <a:off x="1007510" y="2934515"/>
            <a:ext cx="5539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각 학습 라운드마다 생성되는 글로벌 모델의 성능</a:t>
            </a:r>
            <a:br>
              <a:rPr lang="en-US" altLang="ko-KR" sz="1600" dirty="0"/>
            </a:br>
            <a:r>
              <a:rPr lang="en-US" altLang="ko-KR" sz="1600" dirty="0"/>
              <a:t>(</a:t>
            </a:r>
            <a:r>
              <a:rPr lang="ko-KR" altLang="en-US" sz="1600" dirty="0"/>
              <a:t>정확도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손실값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F1-score, Recall, Precision)</a:t>
            </a:r>
            <a:r>
              <a:rPr lang="ko-KR" altLang="en-US" sz="1600" dirty="0"/>
              <a:t>을 기록</a:t>
            </a:r>
            <a:endParaRPr kumimoji="1" lang="en-US" altLang="ko-K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AAF442-49BF-AD24-B096-3FE2FDCA9A45}"/>
              </a:ext>
            </a:extLst>
          </p:cNvPr>
          <p:cNvSpPr txBox="1"/>
          <p:nvPr/>
        </p:nvSpPr>
        <p:spPr>
          <a:xfrm>
            <a:off x="813595" y="3602188"/>
            <a:ext cx="854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600" b="1" dirty="0">
                <a:latin typeface="+mn-ea"/>
              </a:rPr>
              <a:t>2)  </a:t>
            </a:r>
            <a:r>
              <a:rPr kumimoji="1" lang="ko-KR" altLang="en-US" sz="1600" b="1" dirty="0">
                <a:latin typeface="+mn-ea"/>
              </a:rPr>
              <a:t>모델 추천 </a:t>
            </a:r>
            <a:r>
              <a:rPr kumimoji="1" lang="en-US" altLang="ko-KR" sz="1600" b="1" dirty="0">
                <a:latin typeface="+mn-ea"/>
              </a:rPr>
              <a:t>/ </a:t>
            </a:r>
            <a:r>
              <a:rPr kumimoji="1" lang="ko-KR" altLang="en-US" sz="1600" b="1" dirty="0">
                <a:latin typeface="+mn-ea"/>
              </a:rPr>
              <a:t>선택</a:t>
            </a:r>
            <a:r>
              <a:rPr kumimoji="1" lang="en-US" altLang="ko-KR" sz="1600" b="1" dirty="0">
                <a:latin typeface="+mn-ea"/>
              </a:rPr>
              <a:t>: </a:t>
            </a:r>
            <a:r>
              <a:rPr kumimoji="1" lang="ko-KR" altLang="en-US" sz="1600" b="1" dirty="0">
                <a:latin typeface="+mn-ea"/>
              </a:rPr>
              <a:t>사용자 요구사항</a:t>
            </a:r>
            <a:r>
              <a:rPr kumimoji="1" lang="en-US" altLang="ko-KR" sz="1600" b="1" dirty="0">
                <a:latin typeface="+mn-ea"/>
              </a:rPr>
              <a:t>(</a:t>
            </a:r>
            <a:r>
              <a:rPr kumimoji="1" lang="ko-KR" altLang="en-US" sz="1600" b="1" dirty="0">
                <a:latin typeface="+mn-ea"/>
              </a:rPr>
              <a:t>성능</a:t>
            </a:r>
            <a:r>
              <a:rPr kumimoji="1" lang="en-US" altLang="ko-KR" sz="1600" b="1" dirty="0">
                <a:latin typeface="+mn-ea"/>
              </a:rPr>
              <a:t>, </a:t>
            </a:r>
            <a:r>
              <a:rPr kumimoji="1" lang="ko-KR" altLang="en-US" sz="1600" b="1" dirty="0">
                <a:latin typeface="+mn-ea"/>
              </a:rPr>
              <a:t>정확도 등</a:t>
            </a:r>
            <a:r>
              <a:rPr kumimoji="1" lang="en-US" altLang="ko-KR" sz="1600" b="1" dirty="0">
                <a:latin typeface="+mn-ea"/>
              </a:rPr>
              <a:t>)</a:t>
            </a:r>
            <a:r>
              <a:rPr kumimoji="1" lang="ko-KR" altLang="en-US" sz="1600" b="1" dirty="0">
                <a:latin typeface="+mn-ea"/>
              </a:rPr>
              <a:t>에 따른 최적 모델 제공</a:t>
            </a:r>
            <a:endParaRPr kumimoji="1" lang="en-US" altLang="ko-KR" sz="16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3BC12-808F-FA1D-1495-743A50B83D9E}"/>
              </a:ext>
            </a:extLst>
          </p:cNvPr>
          <p:cNvSpPr txBox="1"/>
          <p:nvPr/>
        </p:nvSpPr>
        <p:spPr>
          <a:xfrm>
            <a:off x="1040030" y="3979563"/>
            <a:ext cx="7662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 요구사항</a:t>
            </a:r>
            <a:r>
              <a:rPr lang="en-US" altLang="ko-KR" sz="1600" dirty="0"/>
              <a:t>- </a:t>
            </a:r>
            <a:r>
              <a:rPr lang="ko-KR" altLang="en-US" sz="1600" dirty="0"/>
              <a:t>모델 평가지표</a:t>
            </a:r>
            <a:r>
              <a:rPr lang="en-US" altLang="ko-KR" sz="1600" dirty="0"/>
              <a:t>(</a:t>
            </a:r>
            <a:r>
              <a:rPr lang="ko-KR" altLang="en-US" sz="1600" dirty="0"/>
              <a:t>정확도</a:t>
            </a:r>
            <a:r>
              <a:rPr lang="en-US" altLang="ko-KR" sz="1600" dirty="0"/>
              <a:t>, F1-score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따라 최적 모델 추천</a:t>
            </a:r>
            <a:endParaRPr kumimoji="1" lang="en-US" altLang="ko-KR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B0F42-2BF7-321D-3304-6CA6AECF4DFB}"/>
              </a:ext>
            </a:extLst>
          </p:cNvPr>
          <p:cNvSpPr txBox="1"/>
          <p:nvPr/>
        </p:nvSpPr>
        <p:spPr>
          <a:xfrm>
            <a:off x="813595" y="2565183"/>
            <a:ext cx="5572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kumimoji="1" lang="ko-KR" altLang="en-US" sz="1600" b="1" dirty="0"/>
              <a:t>모델 성능 추적</a:t>
            </a:r>
            <a:endParaRPr kumimoji="1" lang="en-US" altLang="ko-KR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9B061-6035-E5AF-79A4-0FDFD4A757C5}"/>
              </a:ext>
            </a:extLst>
          </p:cNvPr>
          <p:cNvSpPr txBox="1"/>
          <p:nvPr/>
        </p:nvSpPr>
        <p:spPr>
          <a:xfrm>
            <a:off x="1040030" y="4847291"/>
            <a:ext cx="7415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 요구사항에 기반한 최적의 모델의 다운로드 기능 제공</a:t>
            </a:r>
            <a:endParaRPr lang="en-US" altLang="ko-KR" sz="16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F90A5E-E6B0-5A24-0EAC-7B432A1ADB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677940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6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6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6000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56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6"/>
          <p:cNvSpPr/>
          <p:nvPr/>
        </p:nvSpPr>
        <p:spPr>
          <a:xfrm>
            <a:off x="1111640" y="3357735"/>
            <a:ext cx="69207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사례연구 및 평가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사례 연구</a:t>
            </a:r>
            <a:endParaRPr/>
          </a:p>
        </p:txBody>
      </p:sp>
      <p:sp>
        <p:nvSpPr>
          <p:cNvPr id="561" name="Google Shape;561;p57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21</a:t>
            </a:fld>
            <a:endParaRPr/>
          </a:p>
        </p:txBody>
      </p:sp>
      <p:sp>
        <p:nvSpPr>
          <p:cNvPr id="562" name="Google Shape;562;p57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7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7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7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폐 이미지 기반 코로나 19 진단 연합학습 모델 생성</a:t>
            </a:r>
            <a:endParaRPr dirty="0"/>
          </a:p>
        </p:txBody>
      </p:sp>
      <p:pic>
        <p:nvPicPr>
          <p:cNvPr id="566" name="Google Shape;56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9" y="3904585"/>
            <a:ext cx="2159449" cy="2185986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7"/>
          <p:cNvSpPr txBox="1"/>
          <p:nvPr/>
        </p:nvSpPr>
        <p:spPr>
          <a:xfrm>
            <a:off x="6852130" y="6126966"/>
            <a:ext cx="17605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폐 이미지 예시</a:t>
            </a:r>
            <a:endParaRPr/>
          </a:p>
        </p:txBody>
      </p:sp>
      <p:sp>
        <p:nvSpPr>
          <p:cNvPr id="569" name="Google Shape;569;p57"/>
          <p:cNvSpPr txBox="1"/>
          <p:nvPr/>
        </p:nvSpPr>
        <p:spPr>
          <a:xfrm>
            <a:off x="773522" y="1922340"/>
            <a:ext cx="45432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의료 정보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개인정보 보호 필요성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민감한 정보로 인한 데이터 공유 어려움 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7"/>
          <p:cNvSpPr/>
          <p:nvPr/>
        </p:nvSpPr>
        <p:spPr>
          <a:xfrm>
            <a:off x="5221480" y="2299595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7"/>
          <p:cNvSpPr txBox="1"/>
          <p:nvPr/>
        </p:nvSpPr>
        <p:spPr>
          <a:xfrm>
            <a:off x="5591175" y="2276947"/>
            <a:ext cx="25169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연합학습에 적합한 도메인</a:t>
            </a:r>
            <a:endParaRPr/>
          </a:p>
        </p:txBody>
      </p:sp>
      <p:sp>
        <p:nvSpPr>
          <p:cNvPr id="572" name="Google Shape;572;p57"/>
          <p:cNvSpPr txBox="1"/>
          <p:nvPr/>
        </p:nvSpPr>
        <p:spPr>
          <a:xfrm>
            <a:off x="810570" y="3013501"/>
            <a:ext cx="66125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연합학습 참여자 설정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3명의 참여자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지리적 분산 환경 모사</a:t>
            </a: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위해 US, Asia, Europe 리전에 각각 구축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7"/>
          <p:cNvSpPr txBox="1"/>
          <p:nvPr/>
        </p:nvSpPr>
        <p:spPr>
          <a:xfrm>
            <a:off x="798031" y="5442044"/>
            <a:ext cx="425693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및 모델 설정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데이터: Kaggle Covid 19 Image Dataset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모델: 일반적인 CNN 모델(26MB)</a:t>
            </a:r>
            <a:endParaRPr/>
          </a:p>
        </p:txBody>
      </p:sp>
      <p:sp>
        <p:nvSpPr>
          <p:cNvPr id="574" name="Google Shape;574;p57"/>
          <p:cNvSpPr txBox="1"/>
          <p:nvPr/>
        </p:nvSpPr>
        <p:spPr>
          <a:xfrm>
            <a:off x="810569" y="4104662"/>
            <a:ext cx="489490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 최적화 관련 사용자 요구사항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지연시간 : 비용 가중치 조절(1:9, 5:5, 9:1)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최대 지연시간 : 250ms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최대 비용: 85000KRW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8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-KR" altLang="en-US" dirty="0"/>
              <a:t>사례 연구</a:t>
            </a:r>
            <a:endParaRPr dirty="0"/>
          </a:p>
        </p:txBody>
      </p:sp>
      <p:sp>
        <p:nvSpPr>
          <p:cNvPr id="580" name="Google Shape;580;p58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22</a:t>
            </a:fld>
            <a:endParaRPr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6E35A2-00F3-CE17-D1DF-B42F4F98C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0" y="2709333"/>
            <a:ext cx="8884387" cy="2241517"/>
          </a:xfrm>
          <a:prstGeom prst="rect">
            <a:avLst/>
          </a:prstGeom>
        </p:spPr>
      </p:pic>
      <p:sp>
        <p:nvSpPr>
          <p:cNvPr id="4" name="Google Shape;562;p57">
            <a:extLst>
              <a:ext uri="{FF2B5EF4-FFF2-40B4-BE49-F238E27FC236}">
                <a16:creationId xmlns:a16="http://schemas.microsoft.com/office/drawing/2014/main" id="{F79E1EEF-6CFC-92D4-8058-BEA06AA0A226}"/>
              </a:ext>
            </a:extLst>
          </p:cNvPr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63;p57">
            <a:extLst>
              <a:ext uri="{FF2B5EF4-FFF2-40B4-BE49-F238E27FC236}">
                <a16:creationId xmlns:a16="http://schemas.microsoft.com/office/drawing/2014/main" id="{A8E4B8DE-5704-4743-1C55-635C0ECE2A19}"/>
              </a:ext>
            </a:extLst>
          </p:cNvPr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64;p57">
            <a:extLst>
              <a:ext uri="{FF2B5EF4-FFF2-40B4-BE49-F238E27FC236}">
                <a16:creationId xmlns:a16="http://schemas.microsoft.com/office/drawing/2014/main" id="{4DC5166B-139F-32B4-EF82-5E5A413D9258}"/>
              </a:ext>
            </a:extLst>
          </p:cNvPr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65;p57">
            <a:extLst>
              <a:ext uri="{FF2B5EF4-FFF2-40B4-BE49-F238E27FC236}">
                <a16:creationId xmlns:a16="http://schemas.microsoft.com/office/drawing/2014/main" id="{B70C8FA9-B120-A998-126D-B78C66D6E84F}"/>
              </a:ext>
            </a:extLst>
          </p:cNvPr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3F3F3F"/>
                </a:solidFill>
              </a:rPr>
              <a:t>연합학습 모델 생성 </a:t>
            </a:r>
            <a:r>
              <a:rPr lang="ko-KR" altLang="en-US" sz="2400" b="1" dirty="0" err="1">
                <a:solidFill>
                  <a:srgbClr val="3F3F3F"/>
                </a:solidFill>
              </a:rPr>
              <a:t>전주기</a:t>
            </a:r>
            <a:r>
              <a:rPr lang="ko-KR" altLang="en-US" sz="2400" b="1" dirty="0">
                <a:solidFill>
                  <a:srgbClr val="3F3F3F"/>
                </a:solidFill>
              </a:rPr>
              <a:t> 과정</a:t>
            </a:r>
            <a:endParaRPr lang="ko-KR" altLang="en-US" dirty="0"/>
          </a:p>
        </p:txBody>
      </p:sp>
      <p:pic>
        <p:nvPicPr>
          <p:cNvPr id="8" name="Google Shape;566;p57">
            <a:extLst>
              <a:ext uri="{FF2B5EF4-FFF2-40B4-BE49-F238E27FC236}">
                <a16:creationId xmlns:a16="http://schemas.microsoft.com/office/drawing/2014/main" id="{A0DD80B8-3EBF-0684-B1EE-4C8A3563EA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9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598" name="Google Shape;598;p59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23</a:t>
            </a:fld>
            <a:endParaRPr/>
          </a:p>
        </p:txBody>
      </p:sp>
      <p:sp>
        <p:nvSpPr>
          <p:cNvPr id="599" name="Google Shape;599;p59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9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9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9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연합학습 집계자 최적화 평가 (1)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9"/>
          <p:cNvSpPr txBox="1"/>
          <p:nvPr/>
        </p:nvSpPr>
        <p:spPr>
          <a:xfrm>
            <a:off x="773522" y="1922340"/>
            <a:ext cx="432362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세 가지 시나리오를 이용하여 평가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ko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최적화 전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ko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 우선 최적화(비용:지연시간 = 9:1)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ko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지연시간 우선 최적화(비용:지연시간 = 1:9)</a:t>
            </a:r>
            <a:endParaRPr/>
          </a:p>
        </p:txBody>
      </p:sp>
      <p:grpSp>
        <p:nvGrpSpPr>
          <p:cNvPr id="605" name="Google Shape;605;p59"/>
          <p:cNvGrpSpPr/>
          <p:nvPr/>
        </p:nvGrpSpPr>
        <p:grpSpPr>
          <a:xfrm>
            <a:off x="1577580" y="2983196"/>
            <a:ext cx="5734050" cy="3352800"/>
            <a:chOff x="1577580" y="2983196"/>
            <a:chExt cx="5734050" cy="3352800"/>
          </a:xfrm>
        </p:grpSpPr>
        <p:pic>
          <p:nvPicPr>
            <p:cNvPr id="606" name="Google Shape;606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77580" y="2983196"/>
              <a:ext cx="5734050" cy="335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59"/>
            <p:cNvSpPr txBox="1"/>
            <p:nvPr/>
          </p:nvSpPr>
          <p:spPr>
            <a:xfrm>
              <a:off x="3709272" y="3232294"/>
              <a:ext cx="15180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비용 우선 최적화</a:t>
              </a:r>
              <a:endParaRPr/>
            </a:p>
          </p:txBody>
        </p:sp>
        <p:sp>
          <p:nvSpPr>
            <p:cNvPr id="608" name="Google Shape;608;p59"/>
            <p:cNvSpPr txBox="1"/>
            <p:nvPr/>
          </p:nvSpPr>
          <p:spPr>
            <a:xfrm>
              <a:off x="5029202" y="3663100"/>
              <a:ext cx="19888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지연시간 우선 최적화</a:t>
              </a:r>
              <a:endParaRPr/>
            </a:p>
          </p:txBody>
        </p:sp>
      </p:grpSp>
      <p:cxnSp>
        <p:nvCxnSpPr>
          <p:cNvPr id="609" name="Google Shape;609;p59"/>
          <p:cNvCxnSpPr/>
          <p:nvPr/>
        </p:nvCxnSpPr>
        <p:spPr>
          <a:xfrm rot="10800000">
            <a:off x="1295400" y="3800475"/>
            <a:ext cx="1066800" cy="323850"/>
          </a:xfrm>
          <a:prstGeom prst="straightConnector1">
            <a:avLst/>
          </a:prstGeom>
          <a:noFill/>
          <a:ln w="38100" cap="flat" cmpd="sng">
            <a:solidFill>
              <a:srgbClr val="1170B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0" name="Google Shape;610;p59"/>
          <p:cNvCxnSpPr/>
          <p:nvPr/>
        </p:nvCxnSpPr>
        <p:spPr>
          <a:xfrm flipH="1">
            <a:off x="1295400" y="4669121"/>
            <a:ext cx="1600200" cy="24391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1" name="Google Shape;611;p59"/>
          <p:cNvSpPr txBox="1"/>
          <p:nvPr/>
        </p:nvSpPr>
        <p:spPr>
          <a:xfrm>
            <a:off x="189708" y="4824500"/>
            <a:ext cx="16002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평균 라운드</a:t>
            </a:r>
            <a:br>
              <a:rPr lang="ko" sz="1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학습 속도</a:t>
            </a:r>
            <a:endParaRPr/>
          </a:p>
        </p:txBody>
      </p:sp>
      <p:sp>
        <p:nvSpPr>
          <p:cNvPr id="612" name="Google Shape;612;p59"/>
          <p:cNvSpPr txBox="1"/>
          <p:nvPr/>
        </p:nvSpPr>
        <p:spPr>
          <a:xfrm>
            <a:off x="404770" y="3526563"/>
            <a:ext cx="11700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18CFF"/>
                </a:solidFill>
                <a:latin typeface="Calibri"/>
                <a:ea typeface="Calibri"/>
                <a:cs typeface="Calibri"/>
                <a:sym typeface="Calibri"/>
              </a:rPr>
              <a:t>클라우드</a:t>
            </a:r>
            <a:br>
              <a:rPr lang="ko" sz="1400" b="1">
                <a:solidFill>
                  <a:srgbClr val="118C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400" b="1">
                <a:solidFill>
                  <a:srgbClr val="118CFF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endParaRPr/>
          </a:p>
        </p:txBody>
      </p:sp>
      <p:sp>
        <p:nvSpPr>
          <p:cNvPr id="613" name="Google Shape;613;p59"/>
          <p:cNvSpPr/>
          <p:nvPr/>
        </p:nvSpPr>
        <p:spPr>
          <a:xfrm>
            <a:off x="1789909" y="5934075"/>
            <a:ext cx="277016" cy="24391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9"/>
          <p:cNvSpPr/>
          <p:nvPr/>
        </p:nvSpPr>
        <p:spPr>
          <a:xfrm>
            <a:off x="6879512" y="5995141"/>
            <a:ext cx="277016" cy="24391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9"/>
          <p:cNvSpPr txBox="1"/>
          <p:nvPr/>
        </p:nvSpPr>
        <p:spPr>
          <a:xfrm>
            <a:off x="1642271" y="5928466"/>
            <a:ext cx="572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(KRW)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9"/>
          <p:cNvSpPr txBox="1"/>
          <p:nvPr/>
        </p:nvSpPr>
        <p:spPr>
          <a:xfrm>
            <a:off x="6855383" y="5966566"/>
            <a:ext cx="572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0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622" name="Google Shape;622;p60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24</a:t>
            </a:fld>
            <a:endParaRPr/>
          </a:p>
        </p:txBody>
      </p:sp>
      <p:sp>
        <p:nvSpPr>
          <p:cNvPr id="623" name="Google Shape;623;p60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0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0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0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연합학습 집계자 최적화 평가 (2)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0"/>
          <p:cNvPicPr preferRelativeResize="0"/>
          <p:nvPr/>
        </p:nvPicPr>
        <p:blipFill rotWithShape="1">
          <a:blip r:embed="rId4">
            <a:alphaModFix amt="41000"/>
          </a:blip>
          <a:srcRect/>
          <a:stretch/>
        </p:blipFill>
        <p:spPr>
          <a:xfrm>
            <a:off x="1577580" y="2983196"/>
            <a:ext cx="57340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0"/>
          <p:cNvSpPr txBox="1"/>
          <p:nvPr/>
        </p:nvSpPr>
        <p:spPr>
          <a:xfrm>
            <a:off x="3709272" y="3232294"/>
            <a:ext cx="15180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비용 우선 최적화</a:t>
            </a:r>
            <a:endParaRPr/>
          </a:p>
        </p:txBody>
      </p:sp>
      <p:pic>
        <p:nvPicPr>
          <p:cNvPr id="630" name="Google Shape;630;p60"/>
          <p:cNvPicPr preferRelativeResize="0"/>
          <p:nvPr/>
        </p:nvPicPr>
        <p:blipFill rotWithShape="1">
          <a:blip r:embed="rId5">
            <a:alphaModFix/>
          </a:blip>
          <a:srcRect t="7430" r="36350"/>
          <a:stretch/>
        </p:blipFill>
        <p:spPr>
          <a:xfrm>
            <a:off x="1234440" y="2904081"/>
            <a:ext cx="3992880" cy="339550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sp>
        <p:nvSpPr>
          <p:cNvPr id="631" name="Google Shape;631;p60"/>
          <p:cNvSpPr txBox="1"/>
          <p:nvPr/>
        </p:nvSpPr>
        <p:spPr>
          <a:xfrm>
            <a:off x="3450196" y="2953857"/>
            <a:ext cx="19888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비용우선 최적화</a:t>
            </a:r>
            <a:endParaRPr/>
          </a:p>
        </p:txBody>
      </p:sp>
      <p:sp>
        <p:nvSpPr>
          <p:cNvPr id="632" name="Google Shape;632;p60"/>
          <p:cNvSpPr txBox="1"/>
          <p:nvPr/>
        </p:nvSpPr>
        <p:spPr>
          <a:xfrm>
            <a:off x="1976677" y="2953857"/>
            <a:ext cx="19888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최적화 전</a:t>
            </a:r>
            <a:endParaRPr/>
          </a:p>
        </p:txBody>
      </p:sp>
      <p:cxnSp>
        <p:nvCxnSpPr>
          <p:cNvPr id="633" name="Google Shape;633;p60"/>
          <p:cNvCxnSpPr/>
          <p:nvPr/>
        </p:nvCxnSpPr>
        <p:spPr>
          <a:xfrm>
            <a:off x="2499360" y="3261634"/>
            <a:ext cx="1562100" cy="934124"/>
          </a:xfrm>
          <a:prstGeom prst="straightConnector1">
            <a:avLst/>
          </a:prstGeom>
          <a:noFill/>
          <a:ln w="28575" cap="flat" cmpd="sng">
            <a:solidFill>
              <a:srgbClr val="3E9EEE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4" name="Google Shape;634;p60"/>
          <p:cNvSpPr txBox="1"/>
          <p:nvPr/>
        </p:nvSpPr>
        <p:spPr>
          <a:xfrm>
            <a:off x="781075" y="2092326"/>
            <a:ext cx="58923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최적화 수행 전 vs 비용우선 최적화 : 클라우드 비용 41% 감소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0"/>
          <p:cNvSpPr txBox="1"/>
          <p:nvPr/>
        </p:nvSpPr>
        <p:spPr>
          <a:xfrm>
            <a:off x="3134678" y="3404811"/>
            <a:ext cx="890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-41%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0"/>
          <p:cNvSpPr/>
          <p:nvPr/>
        </p:nvSpPr>
        <p:spPr>
          <a:xfrm>
            <a:off x="6879512" y="5995141"/>
            <a:ext cx="277016" cy="24391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0"/>
          <p:cNvSpPr txBox="1"/>
          <p:nvPr/>
        </p:nvSpPr>
        <p:spPr>
          <a:xfrm>
            <a:off x="6855383" y="5966566"/>
            <a:ext cx="572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0"/>
          <p:cNvSpPr/>
          <p:nvPr/>
        </p:nvSpPr>
        <p:spPr>
          <a:xfrm>
            <a:off x="1439072" y="5877639"/>
            <a:ext cx="277016" cy="24391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0"/>
          <p:cNvSpPr txBox="1"/>
          <p:nvPr/>
        </p:nvSpPr>
        <p:spPr>
          <a:xfrm>
            <a:off x="1291434" y="5872030"/>
            <a:ext cx="5722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(KRW)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1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645" name="Google Shape;645;p61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25</a:t>
            </a:fld>
            <a:endParaRPr/>
          </a:p>
        </p:txBody>
      </p:sp>
      <p:pic>
        <p:nvPicPr>
          <p:cNvPr id="646" name="Google Shape;646;p61"/>
          <p:cNvPicPr preferRelativeResize="0"/>
          <p:nvPr/>
        </p:nvPicPr>
        <p:blipFill rotWithShape="1">
          <a:blip r:embed="rId3">
            <a:alphaModFix amt="8000"/>
          </a:blip>
          <a:srcRect/>
          <a:stretch/>
        </p:blipFill>
        <p:spPr>
          <a:xfrm>
            <a:off x="1577580" y="2983196"/>
            <a:ext cx="5734050" cy="33528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784"/>
              </a:srgbClr>
            </a:outerShdw>
          </a:effectLst>
        </p:spPr>
      </p:pic>
      <p:sp>
        <p:nvSpPr>
          <p:cNvPr id="647" name="Google Shape;647;p61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61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1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61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연합학습 집계자 최적화 평가(3)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1"/>
          <p:cNvSpPr txBox="1"/>
          <p:nvPr/>
        </p:nvSpPr>
        <p:spPr>
          <a:xfrm>
            <a:off x="781075" y="2092326"/>
            <a:ext cx="8019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최적화 수행 전 vs 지연시간 우선 최적화 : 클라우드 비용 19% 감소, 학습 속도 7% 단축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61"/>
          <p:cNvPicPr preferRelativeResize="0"/>
          <p:nvPr/>
        </p:nvPicPr>
        <p:blipFill rotWithShape="1">
          <a:blip r:embed="rId5">
            <a:alphaModFix/>
          </a:blip>
          <a:srcRect l="7525" t="7430" r="68210"/>
          <a:stretch/>
        </p:blipFill>
        <p:spPr>
          <a:xfrm>
            <a:off x="2090381" y="2825150"/>
            <a:ext cx="1518048" cy="338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1"/>
          <p:cNvPicPr preferRelativeResize="0"/>
          <p:nvPr/>
        </p:nvPicPr>
        <p:blipFill rotWithShape="1">
          <a:blip r:embed="rId6">
            <a:alphaModFix/>
          </a:blip>
          <a:srcRect l="68210" t="7430" r="7207"/>
          <a:stretch/>
        </p:blipFill>
        <p:spPr>
          <a:xfrm>
            <a:off x="5429729" y="2712558"/>
            <a:ext cx="1623890" cy="357570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61"/>
          <p:cNvSpPr txBox="1"/>
          <p:nvPr/>
        </p:nvSpPr>
        <p:spPr>
          <a:xfrm>
            <a:off x="5247265" y="3185241"/>
            <a:ext cx="19888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지연시간 우선 최적화</a:t>
            </a:r>
            <a:endParaRPr/>
          </a:p>
        </p:txBody>
      </p:sp>
      <p:cxnSp>
        <p:nvCxnSpPr>
          <p:cNvPr id="656" name="Google Shape;656;p61"/>
          <p:cNvCxnSpPr/>
          <p:nvPr/>
        </p:nvCxnSpPr>
        <p:spPr>
          <a:xfrm>
            <a:off x="2933222" y="3194959"/>
            <a:ext cx="2602351" cy="405491"/>
          </a:xfrm>
          <a:prstGeom prst="straightConnector1">
            <a:avLst/>
          </a:prstGeom>
          <a:noFill/>
          <a:ln w="38100" cap="flat" cmpd="sng">
            <a:solidFill>
              <a:srgbClr val="3E9EEE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7" name="Google Shape;657;p61"/>
          <p:cNvCxnSpPr/>
          <p:nvPr/>
        </p:nvCxnSpPr>
        <p:spPr>
          <a:xfrm>
            <a:off x="3150094" y="3572041"/>
            <a:ext cx="2803031" cy="113116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8" name="Google Shape;658;p61"/>
          <p:cNvSpPr txBox="1"/>
          <p:nvPr/>
        </p:nvSpPr>
        <p:spPr>
          <a:xfrm>
            <a:off x="2326782" y="2864357"/>
            <a:ext cx="19888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최적화 전</a:t>
            </a:r>
            <a:endParaRPr/>
          </a:p>
        </p:txBody>
      </p:sp>
      <p:sp>
        <p:nvSpPr>
          <p:cNvPr id="659" name="Google Shape;659;p61"/>
          <p:cNvSpPr txBox="1"/>
          <p:nvPr/>
        </p:nvSpPr>
        <p:spPr>
          <a:xfrm>
            <a:off x="4045448" y="3056947"/>
            <a:ext cx="890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-19%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1"/>
          <p:cNvSpPr txBox="1"/>
          <p:nvPr/>
        </p:nvSpPr>
        <p:spPr>
          <a:xfrm>
            <a:off x="4357153" y="3783991"/>
            <a:ext cx="890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-7%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2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666" name="Google Shape;666;p62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26</a:t>
            </a:fld>
            <a:endParaRPr/>
          </a:p>
        </p:txBody>
      </p:sp>
      <p:sp>
        <p:nvSpPr>
          <p:cNvPr id="667" name="Google Shape;667;p62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2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2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2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태스크 오케스트레이션 평가(1)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2" name="Google Shape;672;p62"/>
          <p:cNvGraphicFramePr/>
          <p:nvPr/>
        </p:nvGraphicFramePr>
        <p:xfrm>
          <a:off x="4752975" y="2908722"/>
          <a:ext cx="3930250" cy="2134775"/>
        </p:xfrm>
        <a:graphic>
          <a:graphicData uri="http://schemas.openxmlformats.org/drawingml/2006/table">
            <a:tbl>
              <a:tblPr>
                <a:noFill/>
                <a:tableStyleId>{24AE3191-0FD7-42FB-8B5F-A4663F6CEAD4}</a:tableStyleId>
              </a:tblPr>
              <a:tblGrid>
                <a:gridCol w="7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 ID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상태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vCPU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RAM(GB)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Disk(GB)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vm-001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8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40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vm-002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2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20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vm-003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Inactive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8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16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80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vm-004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Inactive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4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20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vm-005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3" name="Google Shape;673;p62"/>
          <p:cNvSpPr txBox="1"/>
          <p:nvPr/>
        </p:nvSpPr>
        <p:spPr>
          <a:xfrm>
            <a:off x="781074" y="1969074"/>
            <a:ext cx="8248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 참여자가 5대의 가상머신을 운영하고 있으며, 20번의 연합학습을 수행하는 시나리오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제안하는 동적 태스크 오케스트레이션 VS 랜덤 가상머신 선택(재시도 X)</a:t>
            </a:r>
            <a:endParaRPr/>
          </a:p>
        </p:txBody>
      </p:sp>
      <p:sp>
        <p:nvSpPr>
          <p:cNvPr id="674" name="Google Shape;674;p62"/>
          <p:cNvSpPr txBox="1"/>
          <p:nvPr/>
        </p:nvSpPr>
        <p:spPr>
          <a:xfrm>
            <a:off x="4749402" y="5098432"/>
            <a:ext cx="398226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vm-003, vm-004: </a:t>
            </a:r>
            <a:r>
              <a:rPr lang="ko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상태 != Active  </a:t>
            </a:r>
            <a:endParaRPr/>
          </a:p>
        </p:txBody>
      </p:sp>
      <p:sp>
        <p:nvSpPr>
          <p:cNvPr id="675" name="Google Shape;675;p62"/>
          <p:cNvSpPr txBox="1"/>
          <p:nvPr/>
        </p:nvSpPr>
        <p:spPr>
          <a:xfrm>
            <a:off x="4758927" y="5446374"/>
            <a:ext cx="4572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vm-005: </a:t>
            </a:r>
            <a:r>
              <a:rPr lang="ko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최소 사양 기준 미충족 </a:t>
            </a: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2"/>
          <p:cNvSpPr txBox="1"/>
          <p:nvPr/>
        </p:nvSpPr>
        <p:spPr>
          <a:xfrm>
            <a:off x="321176" y="3939213"/>
            <a:ext cx="3227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arenR"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최소 자원 기반 필터링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arenR"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원형 큐 기반 작업 할당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arenR"/>
            </a:pPr>
            <a:r>
              <a:rPr lang="ko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할당 된 가상머신에서 작업 실패 시 재시도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2"/>
          <p:cNvSpPr txBox="1"/>
          <p:nvPr/>
        </p:nvSpPr>
        <p:spPr>
          <a:xfrm>
            <a:off x="3431757" y="3275111"/>
            <a:ext cx="12727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4D86BC"/>
                </a:solidFill>
                <a:latin typeface="Calibri"/>
                <a:ea typeface="Calibri"/>
                <a:cs typeface="Calibri"/>
                <a:sym typeface="Calibri"/>
              </a:rPr>
              <a:t>학습 가능 가상머신</a:t>
            </a:r>
            <a:endParaRPr/>
          </a:p>
        </p:txBody>
      </p:sp>
      <p:sp>
        <p:nvSpPr>
          <p:cNvPr id="678" name="Google Shape;678;p62"/>
          <p:cNvSpPr/>
          <p:nvPr/>
        </p:nvSpPr>
        <p:spPr>
          <a:xfrm>
            <a:off x="4614705" y="3247566"/>
            <a:ext cx="4116963" cy="673876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3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684" name="Google Shape;684;p63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27</a:t>
            </a:fld>
            <a:endParaRPr/>
          </a:p>
        </p:txBody>
      </p:sp>
      <p:pic>
        <p:nvPicPr>
          <p:cNvPr id="685" name="Google Shape;68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592" y="3028204"/>
            <a:ext cx="4243061" cy="3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63"/>
          <p:cNvPicPr preferRelativeResize="0"/>
          <p:nvPr/>
        </p:nvPicPr>
        <p:blipFill rotWithShape="1">
          <a:blip r:embed="rId4">
            <a:alphaModFix/>
          </a:blip>
          <a:srcRect l="61792"/>
          <a:stretch/>
        </p:blipFill>
        <p:spPr>
          <a:xfrm>
            <a:off x="2613793" y="3037395"/>
            <a:ext cx="1567853" cy="3038684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87" name="Google Shape;687;p63"/>
          <p:cNvSpPr txBox="1"/>
          <p:nvPr/>
        </p:nvSpPr>
        <p:spPr>
          <a:xfrm>
            <a:off x="4889840" y="4304382"/>
            <a:ext cx="425416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 태스크 오케스트레이션 적용시</a:t>
            </a:r>
            <a:endParaRPr sz="15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이탈률 </a:t>
            </a:r>
            <a:r>
              <a:rPr lang="ko" sz="15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0%</a:t>
            </a: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성공률 </a:t>
            </a:r>
            <a:r>
              <a:rPr lang="ko" sz="1500" b="1" i="0" u="none" strike="noStrike">
                <a:solidFill>
                  <a:srgbClr val="118C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</a:t>
            </a: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실험 결과를 보여줌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63"/>
          <p:cNvPicPr preferRelativeResize="0"/>
          <p:nvPr/>
        </p:nvPicPr>
        <p:blipFill rotWithShape="1">
          <a:blip r:embed="rId5">
            <a:alphaModFix/>
          </a:blip>
          <a:srcRect t="42597" r="52560"/>
          <a:stretch/>
        </p:blipFill>
        <p:spPr>
          <a:xfrm>
            <a:off x="-35529" y="4304383"/>
            <a:ext cx="2027655" cy="1780164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689" name="Google Shape;689;p63"/>
          <p:cNvSpPr txBox="1"/>
          <p:nvPr/>
        </p:nvSpPr>
        <p:spPr>
          <a:xfrm>
            <a:off x="4889840" y="5361146"/>
            <a:ext cx="425416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무작위 선택 </a:t>
            </a:r>
            <a:r>
              <a:rPr lang="ko" sz="15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적용시)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이탈률 </a:t>
            </a:r>
            <a:r>
              <a:rPr lang="ko" sz="15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60</a:t>
            </a:r>
            <a:r>
              <a:rPr lang="ko" sz="1500" b="1" i="0" u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성공률 </a:t>
            </a:r>
            <a:r>
              <a:rPr lang="ko" sz="1500" b="1">
                <a:solidFill>
                  <a:srgbClr val="118C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40</a:t>
            </a:r>
            <a:r>
              <a:rPr lang="ko" sz="1500" b="1" i="0" u="none" strike="noStrike">
                <a:solidFill>
                  <a:srgbClr val="118CFF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r>
              <a:rPr lang="ko" sz="150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실험 결과를 보여줌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3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3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3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3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태스크 오케스트레이션 평가(2)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5" name="Google Shape;695;p63"/>
          <p:cNvCxnSpPr>
            <a:cxnSpLocks/>
            <a:stCxn id="688" idx="2"/>
            <a:endCxn id="689" idx="2"/>
          </p:cNvCxnSpPr>
          <p:nvPr/>
        </p:nvCxnSpPr>
        <p:spPr>
          <a:xfrm rot="5400000" flipH="1" flipV="1">
            <a:off x="3912907" y="2980535"/>
            <a:ext cx="169403" cy="6038621"/>
          </a:xfrm>
          <a:prstGeom prst="bentConnector3">
            <a:avLst>
              <a:gd name="adj1" fmla="val -134944"/>
            </a:avLst>
          </a:prstGeom>
          <a:noFill/>
          <a:ln w="57150" cap="flat" cmpd="sng">
            <a:solidFill>
              <a:srgbClr val="F0A57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6" name="Google Shape;696;p63"/>
          <p:cNvCxnSpPr>
            <a:endCxn id="687" idx="1"/>
          </p:cNvCxnSpPr>
          <p:nvPr/>
        </p:nvCxnSpPr>
        <p:spPr>
          <a:xfrm>
            <a:off x="4352840" y="4581381"/>
            <a:ext cx="537000" cy="0"/>
          </a:xfrm>
          <a:prstGeom prst="straightConnector1">
            <a:avLst/>
          </a:prstGeom>
          <a:noFill/>
          <a:ln w="57150" cap="flat" cmpd="sng">
            <a:solidFill>
              <a:srgbClr val="6AB4F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697" name="Google Shape;697;p63"/>
          <p:cNvGraphicFramePr/>
          <p:nvPr/>
        </p:nvGraphicFramePr>
        <p:xfrm>
          <a:off x="4803313" y="1965626"/>
          <a:ext cx="3930250" cy="2134775"/>
        </p:xfrm>
        <a:graphic>
          <a:graphicData uri="http://schemas.openxmlformats.org/drawingml/2006/table">
            <a:tbl>
              <a:tblPr>
                <a:noFill/>
                <a:tableStyleId>{24AE3191-0FD7-42FB-8B5F-A4663F6CEAD4}</a:tableStyleId>
              </a:tblPr>
              <a:tblGrid>
                <a:gridCol w="7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 ID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상태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vCPU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RAM(GB)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Disk(GB)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vm-001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8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40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vm-002</a:t>
                      </a:r>
                      <a:endParaRPr sz="1500" u="none" strike="noStrike" cap="none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2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4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20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vm-003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Inactive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8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16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80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vm-004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Inactive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2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4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000000"/>
                          </a:solidFill>
                        </a:rPr>
                        <a:t>20</a:t>
                      </a:r>
                      <a:endParaRPr sz="1500" u="none" strike="noStrike" cap="none"/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1" u="none" strike="noStrike" cap="none">
                          <a:solidFill>
                            <a:srgbClr val="000000"/>
                          </a:solidFill>
                        </a:rPr>
                        <a:t>vm-005</a:t>
                      </a:r>
                      <a:endParaRPr sz="1500" u="none" strike="noStrike" cap="none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9EEE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3E9EEE"/>
                          </a:solidFill>
                        </a:rPr>
                        <a:t>Active</a:t>
                      </a:r>
                      <a:endParaRPr sz="1500" u="none" strike="noStrike" cap="none">
                        <a:solidFill>
                          <a:srgbClr val="3E9EEE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Calibri"/>
                        <a:buNone/>
                      </a:pPr>
                      <a:r>
                        <a:rPr lang="ko" sz="1500" b="0" u="none" strike="noStrike" cap="non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5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54000" marB="54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8" name="Google Shape;698;p63"/>
          <p:cNvSpPr txBox="1"/>
          <p:nvPr/>
        </p:nvSpPr>
        <p:spPr>
          <a:xfrm>
            <a:off x="3476625" y="2234300"/>
            <a:ext cx="12727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4D86BC"/>
                </a:solidFill>
                <a:latin typeface="Calibri"/>
                <a:ea typeface="Calibri"/>
                <a:cs typeface="Calibri"/>
                <a:sym typeface="Calibri"/>
              </a:rPr>
              <a:t>학습 가능 가상머신</a:t>
            </a:r>
            <a:endParaRPr/>
          </a:p>
        </p:txBody>
      </p:sp>
      <p:sp>
        <p:nvSpPr>
          <p:cNvPr id="699" name="Google Shape;699;p63"/>
          <p:cNvSpPr/>
          <p:nvPr/>
        </p:nvSpPr>
        <p:spPr>
          <a:xfrm>
            <a:off x="4665043" y="2304470"/>
            <a:ext cx="4116963" cy="673876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평가</a:t>
            </a:r>
            <a:endParaRPr/>
          </a:p>
        </p:txBody>
      </p:sp>
      <p:sp>
        <p:nvSpPr>
          <p:cNvPr id="705" name="Google Shape;705;p64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28</a:t>
            </a:fld>
            <a:endParaRPr/>
          </a:p>
        </p:txBody>
      </p:sp>
      <p:sp>
        <p:nvSpPr>
          <p:cNvPr id="706" name="Google Shape;706;p64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64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4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유사 시스템 비교 평가</a:t>
            </a:r>
            <a:endParaRPr/>
          </a:p>
        </p:txBody>
      </p:sp>
      <p:pic>
        <p:nvPicPr>
          <p:cNvPr id="710" name="Google Shape;71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64"/>
          <p:cNvSpPr txBox="1"/>
          <p:nvPr/>
        </p:nvSpPr>
        <p:spPr>
          <a:xfrm>
            <a:off x="781075" y="1969074"/>
            <a:ext cx="772284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퍼블릭 클라우드 기반 연합학습 플랫폼에 비해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 데이터 외부 노출 X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 시스템만이 연합학습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최적화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동적 태스트 오케스트레이션 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지원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643632" y="2526406"/>
            <a:ext cx="285796" cy="2503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4"/>
          <p:cNvSpPr txBox="1"/>
          <p:nvPr/>
        </p:nvSpPr>
        <p:spPr>
          <a:xfrm>
            <a:off x="929428" y="2519117"/>
            <a:ext cx="83669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플랫폼에 비해 데이터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프라이버시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학습시간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감소,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안정성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강화 측면에서 우수</a:t>
            </a:r>
            <a:endParaRPr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33F29E-543B-F1F4-7C10-39CD99429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453" y="3090505"/>
            <a:ext cx="5520089" cy="30767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5"/>
          <p:cNvSpPr/>
          <p:nvPr/>
        </p:nvSpPr>
        <p:spPr>
          <a:xfrm rot="10800000" flipH="1">
            <a:off x="3905080" y="1250242"/>
            <a:ext cx="1333841" cy="1333841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5"/>
          <p:cNvSpPr/>
          <p:nvPr/>
        </p:nvSpPr>
        <p:spPr>
          <a:xfrm>
            <a:off x="3861765" y="1384616"/>
            <a:ext cx="144518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6000">
              <a:solidFill>
                <a:srgbClr val="0B4D8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65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5"/>
          <p:cNvSpPr/>
          <p:nvPr/>
        </p:nvSpPr>
        <p:spPr>
          <a:xfrm>
            <a:off x="1111640" y="3357735"/>
            <a:ext cx="69207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결론 및 향후 연구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6"/>
          <p:cNvSpPr txBox="1">
            <a:spLocks noGrp="1"/>
          </p:cNvSpPr>
          <p:nvPr>
            <p:ph type="title"/>
          </p:nvPr>
        </p:nvSpPr>
        <p:spPr>
          <a:xfrm>
            <a:off x="211049" y="81481"/>
            <a:ext cx="6007540" cy="7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729" name="Google Shape;729;p66"/>
          <p:cNvSpPr txBox="1">
            <a:spLocks noGrp="1"/>
          </p:cNvSpPr>
          <p:nvPr>
            <p:ph type="sldNum" idx="12"/>
          </p:nvPr>
        </p:nvSpPr>
        <p:spPr>
          <a:xfrm>
            <a:off x="6852130" y="647113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30</a:t>
            </a:fld>
            <a:endParaRPr/>
          </a:p>
        </p:txBody>
      </p:sp>
      <p:sp>
        <p:nvSpPr>
          <p:cNvPr id="730" name="Google Shape;730;p66"/>
          <p:cNvSpPr/>
          <p:nvPr/>
        </p:nvSpPr>
        <p:spPr>
          <a:xfrm>
            <a:off x="781076" y="1330492"/>
            <a:ext cx="7327058" cy="529931"/>
          </a:xfrm>
          <a:prstGeom prst="corner">
            <a:avLst>
              <a:gd name="adj1" fmla="val 6144"/>
              <a:gd name="adj2" fmla="val 6145"/>
            </a:avLst>
          </a:prstGeom>
          <a:gradFill>
            <a:gsLst>
              <a:gs pos="0">
                <a:srgbClr val="6AB4F2"/>
              </a:gs>
              <a:gs pos="71300">
                <a:srgbClr val="D4E9FB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6"/>
          <p:cNvSpPr/>
          <p:nvPr/>
        </p:nvSpPr>
        <p:spPr>
          <a:xfrm>
            <a:off x="153748" y="1171728"/>
            <a:ext cx="627327" cy="600163"/>
          </a:xfrm>
          <a:prstGeom prst="ellipse">
            <a:avLst/>
          </a:prstGeom>
          <a:solidFill>
            <a:srgbClr val="6AB4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6"/>
          <p:cNvSpPr/>
          <p:nvPr/>
        </p:nvSpPr>
        <p:spPr>
          <a:xfrm>
            <a:off x="484368" y="1171728"/>
            <a:ext cx="627327" cy="600163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6AB4F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88900" dir="8100000" sx="96000" sy="96000" algn="tr" rotWithShape="0">
              <a:srgbClr val="3F3F3F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31" y="1300566"/>
            <a:ext cx="393879" cy="3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6"/>
          <p:cNvSpPr/>
          <p:nvPr/>
        </p:nvSpPr>
        <p:spPr>
          <a:xfrm>
            <a:off x="1135882" y="1319643"/>
            <a:ext cx="72270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/>
          </a:p>
        </p:txBody>
      </p:sp>
      <p:sp>
        <p:nvSpPr>
          <p:cNvPr id="735" name="Google Shape;735;p66"/>
          <p:cNvSpPr txBox="1"/>
          <p:nvPr/>
        </p:nvSpPr>
        <p:spPr>
          <a:xfrm>
            <a:off x="781074" y="1969074"/>
            <a:ext cx="8248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클라우드 기반 연합학습 플랫폼이 가지는 세 가지 문제점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</a:t>
            </a: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지연시간</a:t>
            </a: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최적화 부재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보안</a:t>
            </a: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취약성 및 데이터 </a:t>
            </a: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프라이버시</a:t>
            </a: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문제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동적 태스크 오케스트레이션</a:t>
            </a:r>
            <a:r>
              <a:rPr lang="ko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미지원 문제</a:t>
            </a:r>
            <a:br>
              <a:rPr lang="k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이를 해결하기 위해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 클라우드 인프라 기반의 연합학습 환경 구축 플랫폼 제안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집계자: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퍼블릭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클라우드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참여자: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프라이빗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클라우드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프라이빗 클라우드를 이용한 학습 ⇒ 데이터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보안성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유지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6"/>
          <p:cNvSpPr/>
          <p:nvPr/>
        </p:nvSpPr>
        <p:spPr>
          <a:xfrm>
            <a:off x="1273094" y="3232618"/>
            <a:ext cx="285900" cy="25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6"/>
          <p:cNvSpPr txBox="1"/>
          <p:nvPr/>
        </p:nvSpPr>
        <p:spPr>
          <a:xfrm>
            <a:off x="895499" y="4709653"/>
            <a:ext cx="82485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사례연구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Covid 19 Image Dataset를 활용한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모델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41%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절감, 학습 속도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7%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향상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참여자 이탈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문제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해소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모든 학습 작업에서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 성공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비용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및 학습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속도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최적화, </a:t>
            </a:r>
            <a:r>
              <a:rPr lang="k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안정적</a:t>
            </a:r>
            <a:r>
              <a:rPr lang="k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 학습 수행 달성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6"/>
          <p:cNvSpPr/>
          <p:nvPr/>
        </p:nvSpPr>
        <p:spPr>
          <a:xfrm>
            <a:off x="1273094" y="5740090"/>
            <a:ext cx="285900" cy="25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1273094" y="4231678"/>
            <a:ext cx="285900" cy="25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E86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8"/>
          <p:cNvSpPr/>
          <p:nvPr/>
        </p:nvSpPr>
        <p:spPr>
          <a:xfrm>
            <a:off x="995929" y="504657"/>
            <a:ext cx="73113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5400" b="1" dirty="0">
              <a:solidFill>
                <a:srgbClr val="19CC9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5400" b="1" dirty="0">
                <a:solidFill>
                  <a:srgbClr val="0B4D8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dirty="0"/>
          </a:p>
        </p:txBody>
      </p:sp>
      <p:sp>
        <p:nvSpPr>
          <p:cNvPr id="758" name="Google Shape;758;p68"/>
          <p:cNvSpPr/>
          <p:nvPr/>
        </p:nvSpPr>
        <p:spPr>
          <a:xfrm rot="10800000" flipH="1">
            <a:off x="3126223" y="2600615"/>
            <a:ext cx="815009" cy="815009"/>
          </a:xfrm>
          <a:prstGeom prst="ellipse">
            <a:avLst/>
          </a:prstGeom>
          <a:solidFill>
            <a:srgbClr val="0B4D83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8"/>
          <p:cNvSpPr/>
          <p:nvPr/>
        </p:nvSpPr>
        <p:spPr>
          <a:xfrm rot="10800000" flipH="1">
            <a:off x="4164496" y="2600615"/>
            <a:ext cx="815009" cy="815009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8"/>
          <p:cNvSpPr/>
          <p:nvPr/>
        </p:nvSpPr>
        <p:spPr>
          <a:xfrm rot="10800000" flipH="1">
            <a:off x="5202769" y="2600615"/>
            <a:ext cx="815009" cy="815009"/>
          </a:xfrm>
          <a:prstGeom prst="ellipse">
            <a:avLst/>
          </a:prstGeom>
          <a:solidFill>
            <a:srgbClr val="0B4D83"/>
          </a:solidFill>
          <a:ln w="63500" cap="flat" cmpd="sng">
            <a:solidFill>
              <a:srgbClr val="0B4D8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1" name="Google Shape;761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245" y="2829745"/>
            <a:ext cx="430056" cy="430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306" y="2779945"/>
            <a:ext cx="469388" cy="46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68" descr="창의성이(가) 표시된 사진&#10;&#10;낮은 신뢰도로 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5587" y="2652025"/>
            <a:ext cx="683033" cy="68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8" descr="폰트, 그래픽, 스크린샷, 디자인이(가) 표시된 사진&#10;&#10;AI 생성 콘텐츠는 정확하지 않을 수 있습니다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3306" y="6190937"/>
            <a:ext cx="2485225" cy="60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8" descr="텍스트, 폰트, 로고, 상징이(가) 표시된 사진&#10;&#10;AI 생성 콘텐츠는 정확하지 않을 수 있습니다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8187" y="149630"/>
            <a:ext cx="1606609" cy="40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8688" y="2741950"/>
            <a:ext cx="503175" cy="5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CB8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1473</Words>
  <Application>Microsoft Macintosh PowerPoint</Application>
  <PresentationFormat>화면 슬라이드 쇼(4:3)</PresentationFormat>
  <Paragraphs>344</Paragraphs>
  <Slides>31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Malgun Gothic</vt:lpstr>
      <vt:lpstr>Arial</vt:lpstr>
      <vt:lpstr>Calibri</vt:lpstr>
      <vt:lpstr>Wingdings</vt:lpstr>
      <vt:lpstr>Simple Light</vt:lpstr>
      <vt:lpstr>Office 테마</vt:lpstr>
      <vt:lpstr>PowerPoint 프레젠테이션</vt:lpstr>
      <vt:lpstr>PowerPoint 프레젠테이션</vt:lpstr>
      <vt:lpstr>배경</vt:lpstr>
      <vt:lpstr>배경</vt:lpstr>
      <vt:lpstr>PowerPoint 프레젠테이션</vt:lpstr>
      <vt:lpstr>기존 시스템의 문제점</vt:lpstr>
      <vt:lpstr>기존 시스템 문제점</vt:lpstr>
      <vt:lpstr>기존 시스템 문제점</vt:lpstr>
      <vt:lpstr>기존 시스템 문제점</vt:lpstr>
      <vt:lpstr>PowerPoint 프레젠테이션</vt:lpstr>
      <vt:lpstr>연구 목표</vt:lpstr>
      <vt:lpstr>PowerPoint 프레젠테이션</vt:lpstr>
      <vt:lpstr>제안 시스템</vt:lpstr>
      <vt:lpstr>제안 시스템</vt:lpstr>
      <vt:lpstr>제안 시스템</vt:lpstr>
      <vt:lpstr>제안 시스템</vt:lpstr>
      <vt:lpstr>제안 시스템</vt:lpstr>
      <vt:lpstr>제안 시스템</vt:lpstr>
      <vt:lpstr>제안 시스템</vt:lpstr>
      <vt:lpstr>PowerPoint 프레젠테이션</vt:lpstr>
      <vt:lpstr>사례 연구</vt:lpstr>
      <vt:lpstr>사례 연구</vt:lpstr>
      <vt:lpstr>평가</vt:lpstr>
      <vt:lpstr>평가</vt:lpstr>
      <vt:lpstr>평가</vt:lpstr>
      <vt:lpstr>평가</vt:lpstr>
      <vt:lpstr>평가</vt:lpstr>
      <vt:lpstr>평가</vt:lpstr>
      <vt:lpstr>PowerPoint 프레젠테이션</vt:lpstr>
      <vt:lpstr>결론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전진혁</cp:lastModifiedBy>
  <cp:revision>57</cp:revision>
  <dcterms:modified xsi:type="dcterms:W3CDTF">2025-09-23T14:42:44Z</dcterms:modified>
</cp:coreProperties>
</file>